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77" r:id="rId5"/>
    <p:sldId id="283" r:id="rId6"/>
    <p:sldId id="288" r:id="rId7"/>
    <p:sldId id="289" r:id="rId8"/>
    <p:sldId id="290" r:id="rId9"/>
    <p:sldId id="291" r:id="rId10"/>
    <p:sldId id="292" r:id="rId11"/>
    <p:sldId id="293" r:id="rId12"/>
    <p:sldId id="282" r:id="rId13"/>
    <p:sldId id="29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A39489-37D1-4216-8E5E-E2A5683BD3AD}" v="34" dt="2025-10-03T12:11:20.6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19" autoAdjust="0"/>
    <p:restoredTop sz="94667"/>
  </p:normalViewPr>
  <p:slideViewPr>
    <p:cSldViewPr snapToGrid="0">
      <p:cViewPr>
        <p:scale>
          <a:sx n="116" d="100"/>
          <a:sy n="116" d="100"/>
        </p:scale>
        <p:origin x="1472" y="9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1C7B6-BE91-D76E-DAFD-D6338E1AC7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7F07D55-D9C4-AAA6-0B5B-C4AA702F3F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F37B72F-AEE5-2DD4-B2D5-ED82762698C4}"/>
              </a:ext>
            </a:extLst>
          </p:cNvPr>
          <p:cNvSpPr>
            <a:spLocks noGrp="1"/>
          </p:cNvSpPr>
          <p:nvPr>
            <p:ph type="dt" sz="half" idx="10"/>
          </p:nvPr>
        </p:nvSpPr>
        <p:spPr/>
        <p:txBody>
          <a:bodyPr/>
          <a:lstStyle/>
          <a:p>
            <a:fld id="{10859DF6-6CF4-4A4C-9598-375EAAF6383E}" type="datetimeFigureOut">
              <a:rPr lang="en-US" smtClean="0"/>
              <a:t>12/13/25</a:t>
            </a:fld>
            <a:endParaRPr lang="en-US"/>
          </a:p>
        </p:txBody>
      </p:sp>
      <p:sp>
        <p:nvSpPr>
          <p:cNvPr id="5" name="Footer Placeholder 4">
            <a:extLst>
              <a:ext uri="{FF2B5EF4-FFF2-40B4-BE49-F238E27FC236}">
                <a16:creationId xmlns:a16="http://schemas.microsoft.com/office/drawing/2014/main" id="{890EDF68-3EDD-8A14-9F08-C57BBD869C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635441-EA1A-C0C5-08B7-1BA50C034534}"/>
              </a:ext>
            </a:extLst>
          </p:cNvPr>
          <p:cNvSpPr>
            <a:spLocks noGrp="1"/>
          </p:cNvSpPr>
          <p:nvPr>
            <p:ph type="sldNum" sz="quarter" idx="12"/>
          </p:nvPr>
        </p:nvSpPr>
        <p:spPr/>
        <p:txBody>
          <a:bodyPr/>
          <a:lstStyle/>
          <a:p>
            <a:fld id="{14557AEC-0033-4215-99AD-22EFBB558CB3}" type="slidenum">
              <a:rPr lang="en-US" smtClean="0"/>
              <a:t>‹#›</a:t>
            </a:fld>
            <a:endParaRPr lang="en-US"/>
          </a:p>
        </p:txBody>
      </p:sp>
    </p:spTree>
    <p:extLst>
      <p:ext uri="{BB962C8B-B14F-4D97-AF65-F5344CB8AC3E}">
        <p14:creationId xmlns:p14="http://schemas.microsoft.com/office/powerpoint/2010/main" val="35073357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93ECB-6B23-5C0E-F057-8DD81EFF32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2140BC-42A2-08AE-BA5C-61202CA424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7FBD3C-DEBE-A8F8-1E9B-C512DE04044E}"/>
              </a:ext>
            </a:extLst>
          </p:cNvPr>
          <p:cNvSpPr>
            <a:spLocks noGrp="1"/>
          </p:cNvSpPr>
          <p:nvPr>
            <p:ph type="dt" sz="half" idx="10"/>
          </p:nvPr>
        </p:nvSpPr>
        <p:spPr/>
        <p:txBody>
          <a:bodyPr/>
          <a:lstStyle/>
          <a:p>
            <a:fld id="{10859DF6-6CF4-4A4C-9598-375EAAF6383E}" type="datetimeFigureOut">
              <a:rPr lang="en-US" smtClean="0"/>
              <a:t>12/13/25</a:t>
            </a:fld>
            <a:endParaRPr lang="en-US"/>
          </a:p>
        </p:txBody>
      </p:sp>
      <p:sp>
        <p:nvSpPr>
          <p:cNvPr id="5" name="Footer Placeholder 4">
            <a:extLst>
              <a:ext uri="{FF2B5EF4-FFF2-40B4-BE49-F238E27FC236}">
                <a16:creationId xmlns:a16="http://schemas.microsoft.com/office/drawing/2014/main" id="{B2442D33-E33E-FD21-6314-0B12AE0244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BAACB4-8DD7-40B6-3EAA-2ED1C535DC5A}"/>
              </a:ext>
            </a:extLst>
          </p:cNvPr>
          <p:cNvSpPr>
            <a:spLocks noGrp="1"/>
          </p:cNvSpPr>
          <p:nvPr>
            <p:ph type="sldNum" sz="quarter" idx="12"/>
          </p:nvPr>
        </p:nvSpPr>
        <p:spPr/>
        <p:txBody>
          <a:bodyPr/>
          <a:lstStyle/>
          <a:p>
            <a:fld id="{14557AEC-0033-4215-99AD-22EFBB558CB3}" type="slidenum">
              <a:rPr lang="en-US" smtClean="0"/>
              <a:t>‹#›</a:t>
            </a:fld>
            <a:endParaRPr lang="en-US"/>
          </a:p>
        </p:txBody>
      </p:sp>
    </p:spTree>
    <p:extLst>
      <p:ext uri="{BB962C8B-B14F-4D97-AF65-F5344CB8AC3E}">
        <p14:creationId xmlns:p14="http://schemas.microsoft.com/office/powerpoint/2010/main" val="1323455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EE3E1-5CB2-05B0-9738-59D163A4C3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90FB28F-456B-F240-F644-7E00097B8FF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9D888D-75F2-0EB8-6098-EECB7E360316}"/>
              </a:ext>
            </a:extLst>
          </p:cNvPr>
          <p:cNvSpPr>
            <a:spLocks noGrp="1"/>
          </p:cNvSpPr>
          <p:nvPr>
            <p:ph type="dt" sz="half" idx="10"/>
          </p:nvPr>
        </p:nvSpPr>
        <p:spPr/>
        <p:txBody>
          <a:bodyPr/>
          <a:lstStyle/>
          <a:p>
            <a:fld id="{10859DF6-6CF4-4A4C-9598-375EAAF6383E}" type="datetimeFigureOut">
              <a:rPr lang="en-US" smtClean="0"/>
              <a:t>12/13/25</a:t>
            </a:fld>
            <a:endParaRPr lang="en-US"/>
          </a:p>
        </p:txBody>
      </p:sp>
      <p:sp>
        <p:nvSpPr>
          <p:cNvPr id="5" name="Footer Placeholder 4">
            <a:extLst>
              <a:ext uri="{FF2B5EF4-FFF2-40B4-BE49-F238E27FC236}">
                <a16:creationId xmlns:a16="http://schemas.microsoft.com/office/drawing/2014/main" id="{06564531-2738-A8CB-3234-B95B702EA9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726D00-8467-06CA-EA00-C48481E8E8D4}"/>
              </a:ext>
            </a:extLst>
          </p:cNvPr>
          <p:cNvSpPr>
            <a:spLocks noGrp="1"/>
          </p:cNvSpPr>
          <p:nvPr>
            <p:ph type="sldNum" sz="quarter" idx="12"/>
          </p:nvPr>
        </p:nvSpPr>
        <p:spPr/>
        <p:txBody>
          <a:bodyPr/>
          <a:lstStyle/>
          <a:p>
            <a:fld id="{14557AEC-0033-4215-99AD-22EFBB558CB3}" type="slidenum">
              <a:rPr lang="en-US" smtClean="0"/>
              <a:t>‹#›</a:t>
            </a:fld>
            <a:endParaRPr lang="en-US"/>
          </a:p>
        </p:txBody>
      </p:sp>
    </p:spTree>
    <p:extLst>
      <p:ext uri="{BB962C8B-B14F-4D97-AF65-F5344CB8AC3E}">
        <p14:creationId xmlns:p14="http://schemas.microsoft.com/office/powerpoint/2010/main" val="8663948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1205B-F10A-0800-D8B1-78FF2496CC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6FDF10-0DBB-286B-32B4-C2315FFB94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C2FDFC9-DAB2-2A42-1EC8-788193FAAB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AFD82B-087D-C69C-68B5-C8708E102170}"/>
              </a:ext>
            </a:extLst>
          </p:cNvPr>
          <p:cNvSpPr>
            <a:spLocks noGrp="1"/>
          </p:cNvSpPr>
          <p:nvPr>
            <p:ph type="dt" sz="half" idx="10"/>
          </p:nvPr>
        </p:nvSpPr>
        <p:spPr/>
        <p:txBody>
          <a:bodyPr/>
          <a:lstStyle/>
          <a:p>
            <a:fld id="{10859DF6-6CF4-4A4C-9598-375EAAF6383E}" type="datetimeFigureOut">
              <a:rPr lang="en-US" smtClean="0"/>
              <a:t>12/13/25</a:t>
            </a:fld>
            <a:endParaRPr lang="en-US"/>
          </a:p>
        </p:txBody>
      </p:sp>
      <p:sp>
        <p:nvSpPr>
          <p:cNvPr id="6" name="Footer Placeholder 5">
            <a:extLst>
              <a:ext uri="{FF2B5EF4-FFF2-40B4-BE49-F238E27FC236}">
                <a16:creationId xmlns:a16="http://schemas.microsoft.com/office/drawing/2014/main" id="{BA37171C-DC58-0496-C33D-FBEEB96DD5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52F52-6D4A-8778-1EC6-7655633F92D9}"/>
              </a:ext>
            </a:extLst>
          </p:cNvPr>
          <p:cNvSpPr>
            <a:spLocks noGrp="1"/>
          </p:cNvSpPr>
          <p:nvPr>
            <p:ph type="sldNum" sz="quarter" idx="12"/>
          </p:nvPr>
        </p:nvSpPr>
        <p:spPr/>
        <p:txBody>
          <a:bodyPr/>
          <a:lstStyle/>
          <a:p>
            <a:fld id="{14557AEC-0033-4215-99AD-22EFBB558CB3}" type="slidenum">
              <a:rPr lang="en-US" smtClean="0"/>
              <a:t>‹#›</a:t>
            </a:fld>
            <a:endParaRPr lang="en-US"/>
          </a:p>
        </p:txBody>
      </p:sp>
    </p:spTree>
    <p:extLst>
      <p:ext uri="{BB962C8B-B14F-4D97-AF65-F5344CB8AC3E}">
        <p14:creationId xmlns:p14="http://schemas.microsoft.com/office/powerpoint/2010/main" val="3140955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098E0-C464-D039-FB93-710E1215ABC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9F69DCA-5CEB-4272-13C4-828BAB8177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95F49A-0BC0-6A47-949D-0966246701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986E80E-A5F5-3797-D954-C6975AB260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2D94B7-534E-05E0-76AD-C1AFF9A976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5380822-90BA-1BE1-DA13-0D6B9EF41FED}"/>
              </a:ext>
            </a:extLst>
          </p:cNvPr>
          <p:cNvSpPr>
            <a:spLocks noGrp="1"/>
          </p:cNvSpPr>
          <p:nvPr>
            <p:ph type="dt" sz="half" idx="10"/>
          </p:nvPr>
        </p:nvSpPr>
        <p:spPr/>
        <p:txBody>
          <a:bodyPr/>
          <a:lstStyle/>
          <a:p>
            <a:fld id="{10859DF6-6CF4-4A4C-9598-375EAAF6383E}" type="datetimeFigureOut">
              <a:rPr lang="en-US" smtClean="0"/>
              <a:t>12/13/25</a:t>
            </a:fld>
            <a:endParaRPr lang="en-US"/>
          </a:p>
        </p:txBody>
      </p:sp>
      <p:sp>
        <p:nvSpPr>
          <p:cNvPr id="8" name="Footer Placeholder 7">
            <a:extLst>
              <a:ext uri="{FF2B5EF4-FFF2-40B4-BE49-F238E27FC236}">
                <a16:creationId xmlns:a16="http://schemas.microsoft.com/office/drawing/2014/main" id="{C3E8296C-7D4F-9FC8-FFE3-FB2D8FE3B99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24535E6-EC47-28DC-2512-9561A050EE88}"/>
              </a:ext>
            </a:extLst>
          </p:cNvPr>
          <p:cNvSpPr>
            <a:spLocks noGrp="1"/>
          </p:cNvSpPr>
          <p:nvPr>
            <p:ph type="sldNum" sz="quarter" idx="12"/>
          </p:nvPr>
        </p:nvSpPr>
        <p:spPr/>
        <p:txBody>
          <a:bodyPr/>
          <a:lstStyle/>
          <a:p>
            <a:fld id="{14557AEC-0033-4215-99AD-22EFBB558CB3}" type="slidenum">
              <a:rPr lang="en-US" smtClean="0"/>
              <a:t>‹#›</a:t>
            </a:fld>
            <a:endParaRPr lang="en-US"/>
          </a:p>
        </p:txBody>
      </p:sp>
    </p:spTree>
    <p:extLst>
      <p:ext uri="{BB962C8B-B14F-4D97-AF65-F5344CB8AC3E}">
        <p14:creationId xmlns:p14="http://schemas.microsoft.com/office/powerpoint/2010/main" val="337984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7C358-E977-D575-A80D-8B623DC8AD9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2AE6569-635B-A0F5-4B29-3CD1FFBFE967}"/>
              </a:ext>
            </a:extLst>
          </p:cNvPr>
          <p:cNvSpPr>
            <a:spLocks noGrp="1"/>
          </p:cNvSpPr>
          <p:nvPr>
            <p:ph type="dt" sz="half" idx="10"/>
          </p:nvPr>
        </p:nvSpPr>
        <p:spPr/>
        <p:txBody>
          <a:bodyPr/>
          <a:lstStyle/>
          <a:p>
            <a:fld id="{10859DF6-6CF4-4A4C-9598-375EAAF6383E}" type="datetimeFigureOut">
              <a:rPr lang="en-US" smtClean="0"/>
              <a:t>12/13/25</a:t>
            </a:fld>
            <a:endParaRPr lang="en-US"/>
          </a:p>
        </p:txBody>
      </p:sp>
      <p:sp>
        <p:nvSpPr>
          <p:cNvPr id="4" name="Footer Placeholder 3">
            <a:extLst>
              <a:ext uri="{FF2B5EF4-FFF2-40B4-BE49-F238E27FC236}">
                <a16:creationId xmlns:a16="http://schemas.microsoft.com/office/drawing/2014/main" id="{D1ED8513-DE8B-8F35-9985-FBA1B5AB2F4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075820-879E-0534-2DCC-F5A23341A8C4}"/>
              </a:ext>
            </a:extLst>
          </p:cNvPr>
          <p:cNvSpPr>
            <a:spLocks noGrp="1"/>
          </p:cNvSpPr>
          <p:nvPr>
            <p:ph type="sldNum" sz="quarter" idx="12"/>
          </p:nvPr>
        </p:nvSpPr>
        <p:spPr/>
        <p:txBody>
          <a:bodyPr/>
          <a:lstStyle/>
          <a:p>
            <a:fld id="{14557AEC-0033-4215-99AD-22EFBB558CB3}" type="slidenum">
              <a:rPr lang="en-US" smtClean="0"/>
              <a:t>‹#›</a:t>
            </a:fld>
            <a:endParaRPr lang="en-US"/>
          </a:p>
        </p:txBody>
      </p:sp>
    </p:spTree>
    <p:extLst>
      <p:ext uri="{BB962C8B-B14F-4D97-AF65-F5344CB8AC3E}">
        <p14:creationId xmlns:p14="http://schemas.microsoft.com/office/powerpoint/2010/main" val="19237581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1DF713-A66C-4C78-5291-3C449076875F}"/>
              </a:ext>
            </a:extLst>
          </p:cNvPr>
          <p:cNvSpPr>
            <a:spLocks noGrp="1"/>
          </p:cNvSpPr>
          <p:nvPr>
            <p:ph type="dt" sz="half" idx="10"/>
          </p:nvPr>
        </p:nvSpPr>
        <p:spPr/>
        <p:txBody>
          <a:bodyPr/>
          <a:lstStyle/>
          <a:p>
            <a:fld id="{10859DF6-6CF4-4A4C-9598-375EAAF6383E}" type="datetimeFigureOut">
              <a:rPr lang="en-US" smtClean="0"/>
              <a:t>12/13/25</a:t>
            </a:fld>
            <a:endParaRPr lang="en-US"/>
          </a:p>
        </p:txBody>
      </p:sp>
      <p:sp>
        <p:nvSpPr>
          <p:cNvPr id="3" name="Footer Placeholder 2">
            <a:extLst>
              <a:ext uri="{FF2B5EF4-FFF2-40B4-BE49-F238E27FC236}">
                <a16:creationId xmlns:a16="http://schemas.microsoft.com/office/drawing/2014/main" id="{D2CF6520-9B16-95BC-EF03-A07409B5AA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43977F8-AF72-C842-B714-C26CC20BE7B5}"/>
              </a:ext>
            </a:extLst>
          </p:cNvPr>
          <p:cNvSpPr>
            <a:spLocks noGrp="1"/>
          </p:cNvSpPr>
          <p:nvPr>
            <p:ph type="sldNum" sz="quarter" idx="12"/>
          </p:nvPr>
        </p:nvSpPr>
        <p:spPr/>
        <p:txBody>
          <a:bodyPr/>
          <a:lstStyle/>
          <a:p>
            <a:fld id="{14557AEC-0033-4215-99AD-22EFBB558CB3}" type="slidenum">
              <a:rPr lang="en-US" smtClean="0"/>
              <a:t>‹#›</a:t>
            </a:fld>
            <a:endParaRPr lang="en-US"/>
          </a:p>
        </p:txBody>
      </p:sp>
    </p:spTree>
    <p:extLst>
      <p:ext uri="{BB962C8B-B14F-4D97-AF65-F5344CB8AC3E}">
        <p14:creationId xmlns:p14="http://schemas.microsoft.com/office/powerpoint/2010/main" val="4077286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3E796-2653-1967-59A2-72FD31F939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C5A574E-F5DE-1DA7-D793-9D10E5903E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DF0350-46C1-6B5D-133F-333A4ADFDE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A01EFE-3E5B-4A62-F659-4B80C59B9AE5}"/>
              </a:ext>
            </a:extLst>
          </p:cNvPr>
          <p:cNvSpPr>
            <a:spLocks noGrp="1"/>
          </p:cNvSpPr>
          <p:nvPr>
            <p:ph type="dt" sz="half" idx="10"/>
          </p:nvPr>
        </p:nvSpPr>
        <p:spPr/>
        <p:txBody>
          <a:bodyPr/>
          <a:lstStyle/>
          <a:p>
            <a:fld id="{10859DF6-6CF4-4A4C-9598-375EAAF6383E}" type="datetimeFigureOut">
              <a:rPr lang="en-US" smtClean="0"/>
              <a:t>12/13/25</a:t>
            </a:fld>
            <a:endParaRPr lang="en-US"/>
          </a:p>
        </p:txBody>
      </p:sp>
      <p:sp>
        <p:nvSpPr>
          <p:cNvPr id="6" name="Footer Placeholder 5">
            <a:extLst>
              <a:ext uri="{FF2B5EF4-FFF2-40B4-BE49-F238E27FC236}">
                <a16:creationId xmlns:a16="http://schemas.microsoft.com/office/drawing/2014/main" id="{BD5F9B59-BC97-1EC7-F7EC-77C47A44F1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70A371-B3AC-7EA0-32C5-A10A0481EB69}"/>
              </a:ext>
            </a:extLst>
          </p:cNvPr>
          <p:cNvSpPr>
            <a:spLocks noGrp="1"/>
          </p:cNvSpPr>
          <p:nvPr>
            <p:ph type="sldNum" sz="quarter" idx="12"/>
          </p:nvPr>
        </p:nvSpPr>
        <p:spPr/>
        <p:txBody>
          <a:bodyPr/>
          <a:lstStyle/>
          <a:p>
            <a:fld id="{14557AEC-0033-4215-99AD-22EFBB558CB3}" type="slidenum">
              <a:rPr lang="en-US" smtClean="0"/>
              <a:t>‹#›</a:t>
            </a:fld>
            <a:endParaRPr lang="en-US"/>
          </a:p>
        </p:txBody>
      </p:sp>
    </p:spTree>
    <p:extLst>
      <p:ext uri="{BB962C8B-B14F-4D97-AF65-F5344CB8AC3E}">
        <p14:creationId xmlns:p14="http://schemas.microsoft.com/office/powerpoint/2010/main" val="691680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C5496-9194-BED4-393F-12750ABEA1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E9263A6-632A-DA6A-1499-3CAA78B21B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3BA95CB-AF5F-05CE-C1B2-515230F131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1F508C-DABF-05CB-DF34-6F4B0AFABC80}"/>
              </a:ext>
            </a:extLst>
          </p:cNvPr>
          <p:cNvSpPr>
            <a:spLocks noGrp="1"/>
          </p:cNvSpPr>
          <p:nvPr>
            <p:ph type="dt" sz="half" idx="10"/>
          </p:nvPr>
        </p:nvSpPr>
        <p:spPr/>
        <p:txBody>
          <a:bodyPr/>
          <a:lstStyle/>
          <a:p>
            <a:fld id="{10859DF6-6CF4-4A4C-9598-375EAAF6383E}" type="datetimeFigureOut">
              <a:rPr lang="en-US" smtClean="0"/>
              <a:t>12/13/25</a:t>
            </a:fld>
            <a:endParaRPr lang="en-US"/>
          </a:p>
        </p:txBody>
      </p:sp>
      <p:sp>
        <p:nvSpPr>
          <p:cNvPr id="6" name="Footer Placeholder 5">
            <a:extLst>
              <a:ext uri="{FF2B5EF4-FFF2-40B4-BE49-F238E27FC236}">
                <a16:creationId xmlns:a16="http://schemas.microsoft.com/office/drawing/2014/main" id="{F2A8FE17-A417-ADA0-F236-702EC064B0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ACD3E9-935C-7010-26F9-6A8F3E29D8BA}"/>
              </a:ext>
            </a:extLst>
          </p:cNvPr>
          <p:cNvSpPr>
            <a:spLocks noGrp="1"/>
          </p:cNvSpPr>
          <p:nvPr>
            <p:ph type="sldNum" sz="quarter" idx="12"/>
          </p:nvPr>
        </p:nvSpPr>
        <p:spPr/>
        <p:txBody>
          <a:bodyPr/>
          <a:lstStyle/>
          <a:p>
            <a:fld id="{14557AEC-0033-4215-99AD-22EFBB558CB3}" type="slidenum">
              <a:rPr lang="en-US" smtClean="0"/>
              <a:t>‹#›</a:t>
            </a:fld>
            <a:endParaRPr lang="en-US"/>
          </a:p>
        </p:txBody>
      </p:sp>
    </p:spTree>
    <p:extLst>
      <p:ext uri="{BB962C8B-B14F-4D97-AF65-F5344CB8AC3E}">
        <p14:creationId xmlns:p14="http://schemas.microsoft.com/office/powerpoint/2010/main" val="2350124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92366-6077-238A-EC66-FA3F5A3B19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CEA3699-814D-B365-5B0E-3A758ECCE1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A0F51A-89AB-5DCF-BC19-02E1ED5B1914}"/>
              </a:ext>
            </a:extLst>
          </p:cNvPr>
          <p:cNvSpPr>
            <a:spLocks noGrp="1"/>
          </p:cNvSpPr>
          <p:nvPr>
            <p:ph type="dt" sz="half" idx="10"/>
          </p:nvPr>
        </p:nvSpPr>
        <p:spPr/>
        <p:txBody>
          <a:bodyPr/>
          <a:lstStyle/>
          <a:p>
            <a:fld id="{10859DF6-6CF4-4A4C-9598-375EAAF6383E}" type="datetimeFigureOut">
              <a:rPr lang="en-US" smtClean="0"/>
              <a:t>12/13/25</a:t>
            </a:fld>
            <a:endParaRPr lang="en-US"/>
          </a:p>
        </p:txBody>
      </p:sp>
      <p:sp>
        <p:nvSpPr>
          <p:cNvPr id="5" name="Footer Placeholder 4">
            <a:extLst>
              <a:ext uri="{FF2B5EF4-FFF2-40B4-BE49-F238E27FC236}">
                <a16:creationId xmlns:a16="http://schemas.microsoft.com/office/drawing/2014/main" id="{F3F2E936-5C82-BB1E-D40A-83A8790C91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15B45E-B250-4A5F-D241-87B9076368A7}"/>
              </a:ext>
            </a:extLst>
          </p:cNvPr>
          <p:cNvSpPr>
            <a:spLocks noGrp="1"/>
          </p:cNvSpPr>
          <p:nvPr>
            <p:ph type="sldNum" sz="quarter" idx="12"/>
          </p:nvPr>
        </p:nvSpPr>
        <p:spPr/>
        <p:txBody>
          <a:bodyPr/>
          <a:lstStyle/>
          <a:p>
            <a:fld id="{14557AEC-0033-4215-99AD-22EFBB558CB3}" type="slidenum">
              <a:rPr lang="en-US" smtClean="0"/>
              <a:t>‹#›</a:t>
            </a:fld>
            <a:endParaRPr lang="en-US"/>
          </a:p>
        </p:txBody>
      </p:sp>
    </p:spTree>
    <p:extLst>
      <p:ext uri="{BB962C8B-B14F-4D97-AF65-F5344CB8AC3E}">
        <p14:creationId xmlns:p14="http://schemas.microsoft.com/office/powerpoint/2010/main" val="4012000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75FACF-EBEE-CA87-7AE2-836CA3D5717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F112DC7-24ED-FB8D-6170-3A7AAFF8C0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D93EEF-4777-D010-FFA5-14F8FC8435D8}"/>
              </a:ext>
            </a:extLst>
          </p:cNvPr>
          <p:cNvSpPr>
            <a:spLocks noGrp="1"/>
          </p:cNvSpPr>
          <p:nvPr>
            <p:ph type="dt" sz="half" idx="10"/>
          </p:nvPr>
        </p:nvSpPr>
        <p:spPr/>
        <p:txBody>
          <a:bodyPr/>
          <a:lstStyle/>
          <a:p>
            <a:fld id="{10859DF6-6CF4-4A4C-9598-375EAAF6383E}" type="datetimeFigureOut">
              <a:rPr lang="en-US" smtClean="0"/>
              <a:t>12/13/25</a:t>
            </a:fld>
            <a:endParaRPr lang="en-US"/>
          </a:p>
        </p:txBody>
      </p:sp>
      <p:sp>
        <p:nvSpPr>
          <p:cNvPr id="5" name="Footer Placeholder 4">
            <a:extLst>
              <a:ext uri="{FF2B5EF4-FFF2-40B4-BE49-F238E27FC236}">
                <a16:creationId xmlns:a16="http://schemas.microsoft.com/office/drawing/2014/main" id="{10F6BA97-76E9-0D62-2D5C-7132AD9C41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AB269D-8C0D-DD63-0C7C-ECE90A3EC44C}"/>
              </a:ext>
            </a:extLst>
          </p:cNvPr>
          <p:cNvSpPr>
            <a:spLocks noGrp="1"/>
          </p:cNvSpPr>
          <p:nvPr>
            <p:ph type="sldNum" sz="quarter" idx="12"/>
          </p:nvPr>
        </p:nvSpPr>
        <p:spPr/>
        <p:txBody>
          <a:bodyPr/>
          <a:lstStyle/>
          <a:p>
            <a:fld id="{14557AEC-0033-4215-99AD-22EFBB558CB3}" type="slidenum">
              <a:rPr lang="en-US" smtClean="0"/>
              <a:t>‹#›</a:t>
            </a:fld>
            <a:endParaRPr lang="en-US"/>
          </a:p>
        </p:txBody>
      </p:sp>
    </p:spTree>
    <p:extLst>
      <p:ext uri="{BB962C8B-B14F-4D97-AF65-F5344CB8AC3E}">
        <p14:creationId xmlns:p14="http://schemas.microsoft.com/office/powerpoint/2010/main" val="2874936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CE2F74-51CC-D83F-1290-4659612C5D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2F958A-06A3-B751-7025-FE9B66B50E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C672C-1563-FB50-49A5-0090A7E18A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0859DF6-6CF4-4A4C-9598-375EAAF6383E}" type="datetimeFigureOut">
              <a:rPr lang="en-US" smtClean="0"/>
              <a:t>12/13/25</a:t>
            </a:fld>
            <a:endParaRPr lang="en-US"/>
          </a:p>
        </p:txBody>
      </p:sp>
      <p:sp>
        <p:nvSpPr>
          <p:cNvPr id="5" name="Footer Placeholder 4">
            <a:extLst>
              <a:ext uri="{FF2B5EF4-FFF2-40B4-BE49-F238E27FC236}">
                <a16:creationId xmlns:a16="http://schemas.microsoft.com/office/drawing/2014/main" id="{64D4BC20-360C-1FF8-DAE5-F1E49531BB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594EB5A-FC1D-ED97-B7C9-A6BF9FC14E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4557AEC-0033-4215-99AD-22EFBB558CB3}" type="slidenum">
              <a:rPr lang="en-US" smtClean="0"/>
              <a:t>‹#›</a:t>
            </a:fld>
            <a:endParaRPr lang="en-US"/>
          </a:p>
        </p:txBody>
      </p:sp>
      <p:sp>
        <p:nvSpPr>
          <p:cNvPr id="8" name="TextBox 7">
            <a:extLst>
              <a:ext uri="{FF2B5EF4-FFF2-40B4-BE49-F238E27FC236}">
                <a16:creationId xmlns:a16="http://schemas.microsoft.com/office/drawing/2014/main" id="{41FA1282-9A54-59CA-C3B5-A47524B12154}"/>
              </a:ext>
            </a:extLst>
          </p:cNvPr>
          <p:cNvSpPr txBox="1"/>
          <p:nvPr userDrawn="1">
            <p:extLst>
              <p:ext uri="{1162E1C5-73C7-4A58-AE30-91384D911F3F}">
                <p184:classification xmlns:p184="http://schemas.microsoft.com/office/powerpoint/2018/4/main" val="ftr"/>
              </p:ext>
            </p:extLst>
          </p:nvPr>
        </p:nvSpPr>
        <p:spPr>
          <a:xfrm>
            <a:off x="5264912" y="6626860"/>
            <a:ext cx="1690688" cy="167640"/>
          </a:xfrm>
          <a:prstGeom prst="rect">
            <a:avLst/>
          </a:prstGeom>
        </p:spPr>
        <p:txBody>
          <a:bodyPr horzOverflow="overflow" lIns="0" tIns="0" rIns="0" bIns="0">
            <a:spAutoFit/>
          </a:bodyPr>
          <a:lstStyle/>
          <a:p>
            <a:pPr algn="l"/>
            <a:r>
              <a:rPr lang="en-SA" sz="1100">
                <a:solidFill>
                  <a:srgbClr val="FF0000">
                    <a:alpha val="50000"/>
                  </a:srgbClr>
                </a:solidFill>
                <a:latin typeface="Aptos" panose="020B0004020202020204" pitchFamily="34" charset="0"/>
              </a:rPr>
              <a:t>Classification | Internal Use</a:t>
            </a:r>
          </a:p>
        </p:txBody>
      </p:sp>
    </p:spTree>
    <p:extLst>
      <p:ext uri="{BB962C8B-B14F-4D97-AF65-F5344CB8AC3E}">
        <p14:creationId xmlns:p14="http://schemas.microsoft.com/office/powerpoint/2010/main" val="407241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ED7AC6-90F0-8F18-D9D1-80E17B82C2B1}"/>
            </a:ext>
          </a:extLst>
        </p:cNvPr>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Freeform: Shape 76">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3CA59593-6CEF-DA97-8860-6E0932BAF627}"/>
              </a:ext>
            </a:extLst>
          </p:cNvPr>
          <p:cNvSpPr>
            <a:spLocks noGrp="1"/>
          </p:cNvSpPr>
          <p:nvPr>
            <p:ph type="ctrTitle"/>
          </p:nvPr>
        </p:nvSpPr>
        <p:spPr>
          <a:xfrm>
            <a:off x="838200" y="713312"/>
            <a:ext cx="4038600" cy="5431376"/>
          </a:xfrm>
        </p:spPr>
        <p:txBody>
          <a:bodyPr vert="horz" lIns="91440" tIns="45720" rIns="91440" bIns="45720" rtlCol="0" anchor="ctr">
            <a:normAutofit/>
          </a:bodyPr>
          <a:lstStyle/>
          <a:p>
            <a:pPr algn="l"/>
            <a:r>
              <a:rPr lang="en-US" sz="4400" dirty="0">
                <a:solidFill>
                  <a:schemeClr val="tx2"/>
                </a:solidFill>
              </a:rPr>
              <a:t>Data Analysis Techniques</a:t>
            </a:r>
            <a:endParaRPr lang="en-US" sz="4400" kern="1200" dirty="0">
              <a:solidFill>
                <a:schemeClr val="tx1"/>
              </a:solidFill>
              <a:latin typeface="+mj-lt"/>
              <a:ea typeface="+mj-ea"/>
              <a:cs typeface="+mj-cs"/>
            </a:endParaRPr>
          </a:p>
        </p:txBody>
      </p:sp>
      <p:sp>
        <p:nvSpPr>
          <p:cNvPr id="3" name="Subtitle 2">
            <a:extLst>
              <a:ext uri="{FF2B5EF4-FFF2-40B4-BE49-F238E27FC236}">
                <a16:creationId xmlns:a16="http://schemas.microsoft.com/office/drawing/2014/main" id="{236B0415-E449-0374-ABC3-D49A8D39B2C7}"/>
              </a:ext>
            </a:extLst>
          </p:cNvPr>
          <p:cNvSpPr>
            <a:spLocks noGrp="1"/>
          </p:cNvSpPr>
          <p:nvPr>
            <p:ph type="subTitle" idx="1"/>
          </p:nvPr>
        </p:nvSpPr>
        <p:spPr>
          <a:xfrm>
            <a:off x="6095999" y="713313"/>
            <a:ext cx="5257801" cy="5431376"/>
          </a:xfrm>
        </p:spPr>
        <p:txBody>
          <a:bodyPr vert="horz" lIns="91440" tIns="45720" rIns="91440" bIns="45720" rtlCol="0" anchor="ctr">
            <a:normAutofit/>
          </a:bodyPr>
          <a:lstStyle/>
          <a:p>
            <a:pPr algn="l"/>
            <a:r>
              <a:rPr lang="en-US" sz="2000" dirty="0">
                <a:solidFill>
                  <a:schemeClr val="tx2"/>
                </a:solidFill>
              </a:rPr>
              <a:t>Ammar Alharbi	</a:t>
            </a:r>
          </a:p>
          <a:p>
            <a:pPr algn="l"/>
            <a:r>
              <a:rPr lang="en-US" sz="2000" dirty="0">
                <a:solidFill>
                  <a:schemeClr val="tx2"/>
                </a:solidFill>
              </a:rPr>
              <a:t>Detection of AI-Generated Arabic Text: A Data Mining Approach</a:t>
            </a:r>
          </a:p>
          <a:p>
            <a:pPr algn="l"/>
            <a:endParaRPr lang="en-US" sz="2000" b="1" dirty="0"/>
          </a:p>
        </p:txBody>
      </p:sp>
    </p:spTree>
    <p:extLst>
      <p:ext uri="{BB962C8B-B14F-4D97-AF65-F5344CB8AC3E}">
        <p14:creationId xmlns:p14="http://schemas.microsoft.com/office/powerpoint/2010/main" val="2388859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96B333-A34D-7D3E-0474-90FA2DD41516}"/>
            </a:ext>
          </a:extLst>
        </p:cNvPr>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0DF243C4-DEEB-A8BF-72A4-F663C22C8B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Freeform: Shape 76">
            <a:extLst>
              <a:ext uri="{FF2B5EF4-FFF2-40B4-BE49-F238E27FC236}">
                <a16:creationId xmlns:a16="http://schemas.microsoft.com/office/drawing/2014/main" id="{74D86BB3-EF1D-675E-2CBF-4098AB71BB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3B41B773-90D1-EC2F-1352-4AC9D98010F3}"/>
              </a:ext>
            </a:extLst>
          </p:cNvPr>
          <p:cNvSpPr>
            <a:spLocks noGrp="1"/>
          </p:cNvSpPr>
          <p:nvPr>
            <p:ph type="ctrTitle"/>
          </p:nvPr>
        </p:nvSpPr>
        <p:spPr>
          <a:xfrm>
            <a:off x="838200" y="713312"/>
            <a:ext cx="4038600" cy="5431376"/>
          </a:xfrm>
        </p:spPr>
        <p:txBody>
          <a:bodyPr vert="horz" lIns="91440" tIns="45720" rIns="91440" bIns="45720" rtlCol="0" anchor="ctr">
            <a:normAutofit/>
          </a:bodyPr>
          <a:lstStyle/>
          <a:p>
            <a:pPr algn="l"/>
            <a:r>
              <a:rPr lang="en-US" sz="4400" dirty="0">
                <a:solidFill>
                  <a:schemeClr val="tx2"/>
                </a:solidFill>
              </a:rPr>
              <a:t>Dataset Summary</a:t>
            </a:r>
            <a:endParaRPr lang="en-US" sz="4400" kern="1200" dirty="0">
              <a:solidFill>
                <a:schemeClr val="tx1"/>
              </a:solidFill>
              <a:latin typeface="+mj-lt"/>
              <a:ea typeface="+mj-ea"/>
              <a:cs typeface="+mj-cs"/>
            </a:endParaRPr>
          </a:p>
        </p:txBody>
      </p:sp>
      <p:sp>
        <p:nvSpPr>
          <p:cNvPr id="3" name="Subtitle 2">
            <a:extLst>
              <a:ext uri="{FF2B5EF4-FFF2-40B4-BE49-F238E27FC236}">
                <a16:creationId xmlns:a16="http://schemas.microsoft.com/office/drawing/2014/main" id="{D3601866-151A-040A-5BA4-C856DF8822D8}"/>
              </a:ext>
            </a:extLst>
          </p:cNvPr>
          <p:cNvSpPr>
            <a:spLocks noGrp="1"/>
          </p:cNvSpPr>
          <p:nvPr>
            <p:ph type="subTitle" idx="1"/>
          </p:nvPr>
        </p:nvSpPr>
        <p:spPr>
          <a:xfrm>
            <a:off x="6095999" y="713313"/>
            <a:ext cx="5257801" cy="5431376"/>
          </a:xfrm>
        </p:spPr>
        <p:txBody>
          <a:bodyPr vert="horz" lIns="91440" tIns="45720" rIns="91440" bIns="45720" rtlCol="0" anchor="ctr">
            <a:normAutofit/>
          </a:bodyPr>
          <a:lstStyle/>
          <a:p>
            <a:pPr algn="l"/>
            <a:r>
              <a:rPr lang="en-US" sz="2000" dirty="0">
                <a:solidFill>
                  <a:schemeClr val="tx2"/>
                </a:solidFill>
                <a:ea typeface="Cabin" pitchFamily="34" charset="-122"/>
                <a:cs typeface="Cabin" pitchFamily="34" charset="-120"/>
              </a:rPr>
              <a:t>We utilize a substantial dataset comprising 41949 Arabic research abstracts, which includes:</a:t>
            </a:r>
          </a:p>
          <a:p>
            <a:pPr algn="l"/>
            <a:r>
              <a:rPr lang="en-US" sz="2000" dirty="0">
                <a:solidFill>
                  <a:schemeClr val="tx2"/>
                </a:solidFill>
                <a:ea typeface="Cabin" pitchFamily="34" charset="-122"/>
                <a:cs typeface="Cabin" pitchFamily="34" charset="-120"/>
              </a:rPr>
              <a:t>AI-generated abstracts produced using various large language models (LLMs)</a:t>
            </a:r>
          </a:p>
          <a:p>
            <a:pPr algn="l"/>
            <a:r>
              <a:rPr lang="en-US" sz="2000" dirty="0">
                <a:solidFill>
                  <a:schemeClr val="tx2"/>
                </a:solidFill>
                <a:ea typeface="Cabin" pitchFamily="34" charset="-122"/>
                <a:cs typeface="Cabin" pitchFamily="34" charset="-120"/>
              </a:rPr>
              <a:t>Human-written abstracts </a:t>
            </a: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b="1" dirty="0"/>
          </a:p>
        </p:txBody>
      </p:sp>
      <p:graphicFrame>
        <p:nvGraphicFramePr>
          <p:cNvPr id="9" name="Table 8">
            <a:extLst>
              <a:ext uri="{FF2B5EF4-FFF2-40B4-BE49-F238E27FC236}">
                <a16:creationId xmlns:a16="http://schemas.microsoft.com/office/drawing/2014/main" id="{B1D39F87-2953-617F-EE83-AEA287EB9ABE}"/>
              </a:ext>
            </a:extLst>
          </p:cNvPr>
          <p:cNvGraphicFramePr>
            <a:graphicFrameLocks noGrp="1"/>
          </p:cNvGraphicFramePr>
          <p:nvPr>
            <p:extLst>
              <p:ext uri="{D42A27DB-BD31-4B8C-83A1-F6EECF244321}">
                <p14:modId xmlns:p14="http://schemas.microsoft.com/office/powerpoint/2010/main" val="3690313514"/>
              </p:ext>
            </p:extLst>
          </p:nvPr>
        </p:nvGraphicFramePr>
        <p:xfrm>
          <a:off x="6210160" y="3429000"/>
          <a:ext cx="5257800" cy="205740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1417819115"/>
                    </a:ext>
                  </a:extLst>
                </a:gridCol>
                <a:gridCol w="2628900">
                  <a:extLst>
                    <a:ext uri="{9D8B030D-6E8A-4147-A177-3AD203B41FA5}">
                      <a16:colId xmlns:a16="http://schemas.microsoft.com/office/drawing/2014/main" val="3162557119"/>
                    </a:ext>
                  </a:extLst>
                </a:gridCol>
              </a:tblGrid>
              <a:tr h="679508">
                <a:tc>
                  <a:txBody>
                    <a:bodyPr/>
                    <a:lstStyle/>
                    <a:p>
                      <a:r>
                        <a:rPr lang="en-SA" dirty="0"/>
                        <a:t>Abstract </a:t>
                      </a:r>
                    </a:p>
                  </a:txBody>
                  <a:tcPr/>
                </a:tc>
                <a:tc>
                  <a:txBody>
                    <a:bodyPr/>
                    <a:lstStyle/>
                    <a:p>
                      <a:r>
                        <a:rPr lang="en-US" dirty="0"/>
                        <a:t>C</a:t>
                      </a:r>
                      <a:r>
                        <a:rPr lang="en-SA" dirty="0"/>
                        <a:t>ount</a:t>
                      </a:r>
                    </a:p>
                  </a:txBody>
                  <a:tcPr/>
                </a:tc>
                <a:extLst>
                  <a:ext uri="{0D108BD9-81ED-4DB2-BD59-A6C34878D82A}">
                    <a16:rowId xmlns:a16="http://schemas.microsoft.com/office/drawing/2014/main" val="3171104148"/>
                  </a:ext>
                </a:extLst>
              </a:tr>
              <a:tr h="688946">
                <a:tc>
                  <a:txBody>
                    <a:bodyPr/>
                    <a:lstStyle/>
                    <a:p>
                      <a:r>
                        <a:rPr lang="en-SA" dirty="0"/>
                        <a:t>AI</a:t>
                      </a:r>
                    </a:p>
                  </a:txBody>
                  <a:tcPr/>
                </a:tc>
                <a:tc>
                  <a:txBody>
                    <a:bodyPr/>
                    <a:lstStyle/>
                    <a:p>
                      <a:r>
                        <a:rPr lang="en-SA" dirty="0"/>
                        <a:t>33552</a:t>
                      </a:r>
                    </a:p>
                  </a:txBody>
                  <a:tcPr/>
                </a:tc>
                <a:extLst>
                  <a:ext uri="{0D108BD9-81ED-4DB2-BD59-A6C34878D82A}">
                    <a16:rowId xmlns:a16="http://schemas.microsoft.com/office/drawing/2014/main" val="3260296808"/>
                  </a:ext>
                </a:extLst>
              </a:tr>
              <a:tr h="688946">
                <a:tc>
                  <a:txBody>
                    <a:bodyPr/>
                    <a:lstStyle/>
                    <a:p>
                      <a:r>
                        <a:rPr lang="en-SA" dirty="0"/>
                        <a:t>Human</a:t>
                      </a:r>
                    </a:p>
                  </a:txBody>
                  <a:tcPr/>
                </a:tc>
                <a:tc>
                  <a:txBody>
                    <a:bodyPr/>
                    <a:lstStyle/>
                    <a:p>
                      <a:r>
                        <a:rPr lang="en-SA" dirty="0"/>
                        <a:t>8388</a:t>
                      </a:r>
                    </a:p>
                  </a:txBody>
                  <a:tcPr/>
                </a:tc>
                <a:extLst>
                  <a:ext uri="{0D108BD9-81ED-4DB2-BD59-A6C34878D82A}">
                    <a16:rowId xmlns:a16="http://schemas.microsoft.com/office/drawing/2014/main" val="3318467772"/>
                  </a:ext>
                </a:extLst>
              </a:tr>
            </a:tbl>
          </a:graphicData>
        </a:graphic>
      </p:graphicFrame>
    </p:spTree>
    <p:extLst>
      <p:ext uri="{BB962C8B-B14F-4D97-AF65-F5344CB8AC3E}">
        <p14:creationId xmlns:p14="http://schemas.microsoft.com/office/powerpoint/2010/main" val="1178192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730DFFE-F631-3061-55FD-81544A2EFF79}"/>
            </a:ext>
          </a:extLst>
        </p:cNvPr>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902BC9C7-8E0E-8CF8-BFAD-EF9637B003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Freeform: Shape 76">
            <a:extLst>
              <a:ext uri="{FF2B5EF4-FFF2-40B4-BE49-F238E27FC236}">
                <a16:creationId xmlns:a16="http://schemas.microsoft.com/office/drawing/2014/main" id="{DAE439B6-3F40-CFD5-0B80-9DB096AE6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B7666B6-37F3-8089-0252-17C8FBC87420}"/>
              </a:ext>
            </a:extLst>
          </p:cNvPr>
          <p:cNvSpPr>
            <a:spLocks noGrp="1"/>
          </p:cNvSpPr>
          <p:nvPr>
            <p:ph type="ctrTitle"/>
          </p:nvPr>
        </p:nvSpPr>
        <p:spPr>
          <a:xfrm>
            <a:off x="838200" y="713312"/>
            <a:ext cx="4038600" cy="5431376"/>
          </a:xfrm>
        </p:spPr>
        <p:txBody>
          <a:bodyPr vert="horz" lIns="91440" tIns="45720" rIns="91440" bIns="45720" rtlCol="0" anchor="ctr">
            <a:normAutofit/>
          </a:bodyPr>
          <a:lstStyle/>
          <a:p>
            <a:pPr algn="l"/>
            <a:r>
              <a:rPr lang="en-US" sz="4400" dirty="0">
                <a:solidFill>
                  <a:schemeClr val="tx2"/>
                </a:solidFill>
              </a:rPr>
              <a:t>Dataset Preprocess</a:t>
            </a:r>
            <a:endParaRPr lang="en-US" sz="4400" kern="1200" dirty="0">
              <a:solidFill>
                <a:schemeClr val="tx1"/>
              </a:solidFill>
              <a:latin typeface="+mj-lt"/>
              <a:ea typeface="+mj-ea"/>
              <a:cs typeface="+mj-cs"/>
            </a:endParaRPr>
          </a:p>
        </p:txBody>
      </p:sp>
      <p:sp>
        <p:nvSpPr>
          <p:cNvPr id="3" name="Subtitle 2">
            <a:extLst>
              <a:ext uri="{FF2B5EF4-FFF2-40B4-BE49-F238E27FC236}">
                <a16:creationId xmlns:a16="http://schemas.microsoft.com/office/drawing/2014/main" id="{FB0CE779-AB39-E9DC-4425-7856488D53E8}"/>
              </a:ext>
            </a:extLst>
          </p:cNvPr>
          <p:cNvSpPr>
            <a:spLocks noGrp="1"/>
          </p:cNvSpPr>
          <p:nvPr>
            <p:ph type="subTitle" idx="1"/>
          </p:nvPr>
        </p:nvSpPr>
        <p:spPr>
          <a:xfrm>
            <a:off x="6095999" y="713313"/>
            <a:ext cx="5257801" cy="5431376"/>
          </a:xfrm>
        </p:spPr>
        <p:txBody>
          <a:bodyPr vert="horz" lIns="91440" tIns="45720" rIns="91440" bIns="45720" rtlCol="0" anchor="ctr">
            <a:normAutofit/>
          </a:bodyPr>
          <a:lstStyle/>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p:txBody>
      </p:sp>
      <p:graphicFrame>
        <p:nvGraphicFramePr>
          <p:cNvPr id="7" name="Table 6">
            <a:extLst>
              <a:ext uri="{FF2B5EF4-FFF2-40B4-BE49-F238E27FC236}">
                <a16:creationId xmlns:a16="http://schemas.microsoft.com/office/drawing/2014/main" id="{05287AA2-8E9A-5208-833D-C24D267CE354}"/>
              </a:ext>
            </a:extLst>
          </p:cNvPr>
          <p:cNvGraphicFramePr>
            <a:graphicFrameLocks noGrp="1"/>
          </p:cNvGraphicFramePr>
          <p:nvPr>
            <p:extLst>
              <p:ext uri="{D42A27DB-BD31-4B8C-83A1-F6EECF244321}">
                <p14:modId xmlns:p14="http://schemas.microsoft.com/office/powerpoint/2010/main" val="419439975"/>
              </p:ext>
            </p:extLst>
          </p:nvPr>
        </p:nvGraphicFramePr>
        <p:xfrm>
          <a:off x="5956256" y="1020726"/>
          <a:ext cx="5511704" cy="4699589"/>
        </p:xfrm>
        <a:graphic>
          <a:graphicData uri="http://schemas.openxmlformats.org/drawingml/2006/table">
            <a:tbl>
              <a:tblPr firstRow="1" bandRow="1">
                <a:tableStyleId>{5C22544A-7EE6-4342-B048-85BDC9FD1C3A}</a:tableStyleId>
              </a:tblPr>
              <a:tblGrid>
                <a:gridCol w="2755852">
                  <a:extLst>
                    <a:ext uri="{9D8B030D-6E8A-4147-A177-3AD203B41FA5}">
                      <a16:colId xmlns:a16="http://schemas.microsoft.com/office/drawing/2014/main" val="1417819115"/>
                    </a:ext>
                  </a:extLst>
                </a:gridCol>
                <a:gridCol w="2755852">
                  <a:extLst>
                    <a:ext uri="{9D8B030D-6E8A-4147-A177-3AD203B41FA5}">
                      <a16:colId xmlns:a16="http://schemas.microsoft.com/office/drawing/2014/main" val="3162557119"/>
                    </a:ext>
                  </a:extLst>
                </a:gridCol>
              </a:tblGrid>
              <a:tr h="905283">
                <a:tc>
                  <a:txBody>
                    <a:bodyPr/>
                    <a:lstStyle/>
                    <a:p>
                      <a:r>
                        <a:rPr lang="en-SA" b="1" dirty="0"/>
                        <a:t>Method</a:t>
                      </a:r>
                    </a:p>
                  </a:txBody>
                  <a:tcPr/>
                </a:tc>
                <a:tc>
                  <a:txBody>
                    <a:bodyPr/>
                    <a:lstStyle/>
                    <a:p>
                      <a:r>
                        <a:rPr lang="en-US" dirty="0"/>
                        <a:t>Description</a:t>
                      </a:r>
                      <a:endParaRPr lang="en-SA" dirty="0"/>
                    </a:p>
                  </a:txBody>
                  <a:tcPr/>
                </a:tc>
                <a:extLst>
                  <a:ext uri="{0D108BD9-81ED-4DB2-BD59-A6C34878D82A}">
                    <a16:rowId xmlns:a16="http://schemas.microsoft.com/office/drawing/2014/main" val="3171104148"/>
                  </a:ext>
                </a:extLst>
              </a:tr>
              <a:tr h="917858">
                <a:tc>
                  <a:txBody>
                    <a:bodyPr/>
                    <a:lstStyle/>
                    <a:p>
                      <a:r>
                        <a:rPr lang="en-SA" dirty="0"/>
                        <a:t>Reomve Diacrirics</a:t>
                      </a:r>
                    </a:p>
                  </a:txBody>
                  <a:tcPr/>
                </a:tc>
                <a:tc>
                  <a:txBody>
                    <a:bodyPr/>
                    <a:lstStyle/>
                    <a:p>
                      <a:r>
                        <a:rPr lang="en-SA" dirty="0"/>
                        <a:t>Such as (damma, fatha, and kasra) </a:t>
                      </a:r>
                    </a:p>
                  </a:txBody>
                  <a:tcPr/>
                </a:tc>
                <a:extLst>
                  <a:ext uri="{0D108BD9-81ED-4DB2-BD59-A6C34878D82A}">
                    <a16:rowId xmlns:a16="http://schemas.microsoft.com/office/drawing/2014/main" val="3260296808"/>
                  </a:ext>
                </a:extLst>
              </a:tr>
              <a:tr h="917858">
                <a:tc>
                  <a:txBody>
                    <a:bodyPr/>
                    <a:lstStyle/>
                    <a:p>
                      <a:r>
                        <a:rPr lang="en-SA" dirty="0"/>
                        <a:t>Normalize Arabic</a:t>
                      </a:r>
                    </a:p>
                  </a:txBody>
                  <a:tcPr/>
                </a:tc>
                <a:tc>
                  <a:txBody>
                    <a:bodyPr/>
                    <a:lstStyle/>
                    <a:p>
                      <a:r>
                        <a:rPr lang="en-SA" dirty="0"/>
                        <a:t>Standardizing text such as (</a:t>
                      </a:r>
                      <a:r>
                        <a:rPr lang="ar-SA" dirty="0" err="1"/>
                        <a:t>أ</a:t>
                      </a:r>
                      <a:r>
                        <a:rPr lang="ar-SA" dirty="0"/>
                        <a:t> </a:t>
                      </a:r>
                      <a:r>
                        <a:rPr lang="en-US" dirty="0"/>
                        <a:t> , </a:t>
                      </a:r>
                      <a:r>
                        <a:rPr lang="ar-SA" dirty="0" err="1"/>
                        <a:t>إ</a:t>
                      </a:r>
                      <a:r>
                        <a:rPr lang="en-US" dirty="0"/>
                        <a:t> , </a:t>
                      </a:r>
                      <a:r>
                        <a:rPr lang="ar-SA" dirty="0" err="1"/>
                        <a:t>آ</a:t>
                      </a:r>
                      <a:r>
                        <a:rPr lang="en-US" dirty="0"/>
                        <a:t> to </a:t>
                      </a:r>
                      <a:r>
                        <a:rPr lang="ar-SA" dirty="0" err="1"/>
                        <a:t>ا</a:t>
                      </a:r>
                      <a:r>
                        <a:rPr lang="en-US" dirty="0"/>
                        <a:t> )</a:t>
                      </a:r>
                      <a:endParaRPr lang="en-SA" dirty="0"/>
                    </a:p>
                  </a:txBody>
                  <a:tcPr/>
                </a:tc>
                <a:extLst>
                  <a:ext uri="{0D108BD9-81ED-4DB2-BD59-A6C34878D82A}">
                    <a16:rowId xmlns:a16="http://schemas.microsoft.com/office/drawing/2014/main" val="3318467772"/>
                  </a:ext>
                </a:extLst>
              </a:tr>
              <a:tr h="917858">
                <a:tc>
                  <a:txBody>
                    <a:bodyPr/>
                    <a:lstStyle/>
                    <a:p>
                      <a:r>
                        <a:rPr lang="en-SA" dirty="0"/>
                        <a:t>Arabic Stopwords</a:t>
                      </a:r>
                    </a:p>
                  </a:txBody>
                  <a:tcPr/>
                </a:tc>
                <a:tc>
                  <a:txBody>
                    <a:bodyPr/>
                    <a:lstStyle/>
                    <a:p>
                      <a:r>
                        <a:rPr lang="en-SA" dirty="0"/>
                        <a:t>Remove common word such as  ( </a:t>
                      </a:r>
                      <a:r>
                        <a:rPr lang="ar-SA" dirty="0"/>
                        <a:t>و</a:t>
                      </a:r>
                      <a:r>
                        <a:rPr lang="en-US" dirty="0"/>
                        <a:t> , </a:t>
                      </a:r>
                      <a:r>
                        <a:rPr lang="ar-SA" dirty="0"/>
                        <a:t>في</a:t>
                      </a:r>
                      <a:r>
                        <a:rPr lang="en-US" dirty="0"/>
                        <a:t> , </a:t>
                      </a:r>
                      <a:r>
                        <a:rPr lang="ar-SA" dirty="0"/>
                        <a:t>من</a:t>
                      </a:r>
                      <a:r>
                        <a:rPr lang="en-SA" dirty="0"/>
                        <a:t>)</a:t>
                      </a:r>
                    </a:p>
                  </a:txBody>
                  <a:tcPr/>
                </a:tc>
                <a:extLst>
                  <a:ext uri="{0D108BD9-81ED-4DB2-BD59-A6C34878D82A}">
                    <a16:rowId xmlns:a16="http://schemas.microsoft.com/office/drawing/2014/main" val="529889614"/>
                  </a:ext>
                </a:extLst>
              </a:tr>
              <a:tr h="1040732">
                <a:tc>
                  <a:txBody>
                    <a:bodyPr/>
                    <a:lstStyle/>
                    <a:p>
                      <a:r>
                        <a:rPr lang="en-SA" dirty="0"/>
                        <a:t>Stemmer</a:t>
                      </a:r>
                    </a:p>
                  </a:txBody>
                  <a:tcPr/>
                </a:tc>
                <a:tc>
                  <a:txBody>
                    <a:bodyPr/>
                    <a:lstStyle/>
                    <a:p>
                      <a:r>
                        <a:rPr lang="en-SA" dirty="0"/>
                        <a:t>Exracting base root of words such as (</a:t>
                      </a:r>
                      <a:r>
                        <a:rPr lang="ar-SA" dirty="0"/>
                        <a:t>كاتب</a:t>
                      </a:r>
                      <a:r>
                        <a:rPr lang="en-SA" dirty="0"/>
                        <a:t>)</a:t>
                      </a:r>
                      <a:r>
                        <a:rPr lang="ar-SA" dirty="0"/>
                        <a:t> </a:t>
                      </a:r>
                      <a:r>
                        <a:rPr lang="en-US" dirty="0"/>
                        <a:t> the root is (</a:t>
                      </a:r>
                      <a:r>
                        <a:rPr lang="ar-SA" dirty="0"/>
                        <a:t>كتب</a:t>
                      </a:r>
                      <a:r>
                        <a:rPr lang="en-US" dirty="0"/>
                        <a:t>)</a:t>
                      </a:r>
                      <a:endParaRPr lang="en-SA" dirty="0"/>
                    </a:p>
                  </a:txBody>
                  <a:tcPr/>
                </a:tc>
                <a:extLst>
                  <a:ext uri="{0D108BD9-81ED-4DB2-BD59-A6C34878D82A}">
                    <a16:rowId xmlns:a16="http://schemas.microsoft.com/office/drawing/2014/main" val="13637779"/>
                  </a:ext>
                </a:extLst>
              </a:tr>
            </a:tbl>
          </a:graphicData>
        </a:graphic>
      </p:graphicFrame>
    </p:spTree>
    <p:extLst>
      <p:ext uri="{BB962C8B-B14F-4D97-AF65-F5344CB8AC3E}">
        <p14:creationId xmlns:p14="http://schemas.microsoft.com/office/powerpoint/2010/main" val="844190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D3F176-82B7-8C4F-6EF7-84C2A7CEFA0A}"/>
            </a:ext>
          </a:extLst>
        </p:cNvPr>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7B83CC89-8237-A932-2B46-F8A5EEEAE2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Freeform: Shape 76">
            <a:extLst>
              <a:ext uri="{FF2B5EF4-FFF2-40B4-BE49-F238E27FC236}">
                <a16:creationId xmlns:a16="http://schemas.microsoft.com/office/drawing/2014/main" id="{C87E76CC-0B57-37BE-F509-447099B4A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C82A38E-6B43-FFD6-5910-F5838DFD56AF}"/>
              </a:ext>
            </a:extLst>
          </p:cNvPr>
          <p:cNvSpPr>
            <a:spLocks noGrp="1"/>
          </p:cNvSpPr>
          <p:nvPr>
            <p:ph type="ctrTitle"/>
          </p:nvPr>
        </p:nvSpPr>
        <p:spPr>
          <a:xfrm>
            <a:off x="838200" y="713312"/>
            <a:ext cx="4038600" cy="5431376"/>
          </a:xfrm>
        </p:spPr>
        <p:txBody>
          <a:bodyPr vert="horz" lIns="91440" tIns="45720" rIns="91440" bIns="45720" rtlCol="0" anchor="ctr">
            <a:normAutofit/>
          </a:bodyPr>
          <a:lstStyle/>
          <a:p>
            <a:pPr algn="l"/>
            <a:r>
              <a:rPr lang="en-US" sz="4400" dirty="0">
                <a:solidFill>
                  <a:schemeClr val="tx2"/>
                </a:solidFill>
              </a:rPr>
              <a:t>Feature Engineering </a:t>
            </a:r>
            <a:endParaRPr lang="en-US" sz="4400" kern="1200" dirty="0">
              <a:solidFill>
                <a:schemeClr val="tx1"/>
              </a:solidFill>
              <a:latin typeface="+mj-lt"/>
              <a:ea typeface="+mj-ea"/>
              <a:cs typeface="+mj-cs"/>
            </a:endParaRPr>
          </a:p>
        </p:txBody>
      </p:sp>
      <p:sp>
        <p:nvSpPr>
          <p:cNvPr id="3" name="Subtitle 2">
            <a:extLst>
              <a:ext uri="{FF2B5EF4-FFF2-40B4-BE49-F238E27FC236}">
                <a16:creationId xmlns:a16="http://schemas.microsoft.com/office/drawing/2014/main" id="{F6736980-2592-782B-7E17-0A004DAFDADB}"/>
              </a:ext>
            </a:extLst>
          </p:cNvPr>
          <p:cNvSpPr>
            <a:spLocks noGrp="1"/>
          </p:cNvSpPr>
          <p:nvPr>
            <p:ph type="subTitle" idx="1"/>
          </p:nvPr>
        </p:nvSpPr>
        <p:spPr>
          <a:xfrm>
            <a:off x="6095999" y="713313"/>
            <a:ext cx="5257801" cy="5431376"/>
          </a:xfrm>
        </p:spPr>
        <p:txBody>
          <a:bodyPr vert="horz" lIns="91440" tIns="45720" rIns="91440" bIns="45720" rtlCol="0" anchor="ctr">
            <a:normAutofit/>
          </a:bodyPr>
          <a:lstStyle/>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p:txBody>
      </p:sp>
      <p:graphicFrame>
        <p:nvGraphicFramePr>
          <p:cNvPr id="7" name="Table 6">
            <a:extLst>
              <a:ext uri="{FF2B5EF4-FFF2-40B4-BE49-F238E27FC236}">
                <a16:creationId xmlns:a16="http://schemas.microsoft.com/office/drawing/2014/main" id="{0078832D-FEBC-7F77-326B-A481E794BD49}"/>
              </a:ext>
            </a:extLst>
          </p:cNvPr>
          <p:cNvGraphicFramePr>
            <a:graphicFrameLocks noGrp="1"/>
          </p:cNvGraphicFramePr>
          <p:nvPr>
            <p:extLst>
              <p:ext uri="{D42A27DB-BD31-4B8C-83A1-F6EECF244321}">
                <p14:modId xmlns:p14="http://schemas.microsoft.com/office/powerpoint/2010/main" val="3049639703"/>
              </p:ext>
            </p:extLst>
          </p:nvPr>
        </p:nvGraphicFramePr>
        <p:xfrm>
          <a:off x="5209952" y="404040"/>
          <a:ext cx="6379536" cy="6048728"/>
        </p:xfrm>
        <a:graphic>
          <a:graphicData uri="http://schemas.openxmlformats.org/drawingml/2006/table">
            <a:tbl>
              <a:tblPr firstRow="1" bandRow="1">
                <a:tableStyleId>{5C22544A-7EE6-4342-B048-85BDC9FD1C3A}</a:tableStyleId>
              </a:tblPr>
              <a:tblGrid>
                <a:gridCol w="3189768">
                  <a:extLst>
                    <a:ext uri="{9D8B030D-6E8A-4147-A177-3AD203B41FA5}">
                      <a16:colId xmlns:a16="http://schemas.microsoft.com/office/drawing/2014/main" val="1417819115"/>
                    </a:ext>
                  </a:extLst>
                </a:gridCol>
                <a:gridCol w="3189768">
                  <a:extLst>
                    <a:ext uri="{9D8B030D-6E8A-4147-A177-3AD203B41FA5}">
                      <a16:colId xmlns:a16="http://schemas.microsoft.com/office/drawing/2014/main" val="3162557119"/>
                    </a:ext>
                  </a:extLst>
                </a:gridCol>
              </a:tblGrid>
              <a:tr h="766387">
                <a:tc>
                  <a:txBody>
                    <a:bodyPr/>
                    <a:lstStyle/>
                    <a:p>
                      <a:r>
                        <a:rPr lang="en-SA" dirty="0"/>
                        <a:t>Feature </a:t>
                      </a:r>
                    </a:p>
                  </a:txBody>
                  <a:tcPr/>
                </a:tc>
                <a:tc>
                  <a:txBody>
                    <a:bodyPr/>
                    <a:lstStyle/>
                    <a:p>
                      <a:r>
                        <a:rPr lang="en-US" dirty="0"/>
                        <a:t>Description</a:t>
                      </a:r>
                      <a:endParaRPr lang="en-SA" dirty="0"/>
                    </a:p>
                  </a:txBody>
                  <a:tcPr/>
                </a:tc>
                <a:extLst>
                  <a:ext uri="{0D108BD9-81ED-4DB2-BD59-A6C34878D82A}">
                    <a16:rowId xmlns:a16="http://schemas.microsoft.com/office/drawing/2014/main" val="3171104148"/>
                  </a:ext>
                </a:extLst>
              </a:tr>
              <a:tr h="777033">
                <a:tc>
                  <a:txBody>
                    <a:bodyPr/>
                    <a:lstStyle/>
                    <a:p>
                      <a:r>
                        <a:rPr lang="en-SA" dirty="0"/>
                        <a:t>Feature 16</a:t>
                      </a:r>
                    </a:p>
                  </a:txBody>
                  <a:tcPr/>
                </a:tc>
                <a:tc>
                  <a:txBody>
                    <a:bodyPr/>
                    <a:lstStyle/>
                    <a:p>
                      <a:r>
                        <a:rPr lang="en-SA" dirty="0"/>
                        <a:t>Related to the number of words that contain repeating letters</a:t>
                      </a:r>
                    </a:p>
                  </a:txBody>
                  <a:tcPr/>
                </a:tc>
                <a:extLst>
                  <a:ext uri="{0D108BD9-81ED-4DB2-BD59-A6C34878D82A}">
                    <a16:rowId xmlns:a16="http://schemas.microsoft.com/office/drawing/2014/main" val="3260296808"/>
                  </a:ext>
                </a:extLst>
              </a:tr>
              <a:tr h="777033">
                <a:tc>
                  <a:txBody>
                    <a:bodyPr/>
                    <a:lstStyle/>
                    <a:p>
                      <a:r>
                        <a:rPr lang="en-SA" dirty="0"/>
                        <a:t>Feature 34</a:t>
                      </a:r>
                    </a:p>
                  </a:txBody>
                  <a:tcPr/>
                </a:tc>
                <a:tc>
                  <a:txBody>
                    <a:bodyPr/>
                    <a:lstStyle/>
                    <a:p>
                      <a:r>
                        <a:rPr lang="en-SA" dirty="0"/>
                        <a:t>Total number of sentences present in a given text</a:t>
                      </a:r>
                    </a:p>
                  </a:txBody>
                  <a:tcPr/>
                </a:tc>
                <a:extLst>
                  <a:ext uri="{0D108BD9-81ED-4DB2-BD59-A6C34878D82A}">
                    <a16:rowId xmlns:a16="http://schemas.microsoft.com/office/drawing/2014/main" val="3318467772"/>
                  </a:ext>
                </a:extLst>
              </a:tr>
              <a:tr h="777033">
                <a:tc>
                  <a:txBody>
                    <a:bodyPr/>
                    <a:lstStyle/>
                    <a:p>
                      <a:r>
                        <a:rPr lang="en-SA" dirty="0"/>
                        <a:t>Feature 39</a:t>
                      </a:r>
                    </a:p>
                  </a:txBody>
                  <a:tcPr/>
                </a:tc>
                <a:tc>
                  <a:txBody>
                    <a:bodyPr/>
                    <a:lstStyle/>
                    <a:p>
                      <a:r>
                        <a:rPr lang="en-SA" dirty="0"/>
                        <a:t>The number of words divided by number of sentences that contain the word</a:t>
                      </a:r>
                    </a:p>
                  </a:txBody>
                  <a:tcPr/>
                </a:tc>
                <a:extLst>
                  <a:ext uri="{0D108BD9-81ED-4DB2-BD59-A6C34878D82A}">
                    <a16:rowId xmlns:a16="http://schemas.microsoft.com/office/drawing/2014/main" val="529889614"/>
                  </a:ext>
                </a:extLst>
              </a:tr>
              <a:tr h="881054">
                <a:tc>
                  <a:txBody>
                    <a:bodyPr/>
                    <a:lstStyle/>
                    <a:p>
                      <a:r>
                        <a:rPr lang="en-SA" dirty="0"/>
                        <a:t>Feature 62</a:t>
                      </a:r>
                    </a:p>
                  </a:txBody>
                  <a:tcPr/>
                </a:tc>
                <a:tc>
                  <a:txBody>
                    <a:bodyPr/>
                    <a:lstStyle/>
                    <a:p>
                      <a:r>
                        <a:rPr lang="en-US" dirty="0"/>
                        <a:t>N</a:t>
                      </a:r>
                      <a:r>
                        <a:rPr lang="en-SA" dirty="0"/>
                        <a:t>umber of sentences that don’t have a complete </a:t>
                      </a:r>
                    </a:p>
                  </a:txBody>
                  <a:tcPr/>
                </a:tc>
                <a:extLst>
                  <a:ext uri="{0D108BD9-81ED-4DB2-BD59-A6C34878D82A}">
                    <a16:rowId xmlns:a16="http://schemas.microsoft.com/office/drawing/2014/main" val="13637779"/>
                  </a:ext>
                </a:extLst>
              </a:tr>
              <a:tr h="881054">
                <a:tc>
                  <a:txBody>
                    <a:bodyPr/>
                    <a:lstStyle/>
                    <a:p>
                      <a:r>
                        <a:rPr lang="en-SA" dirty="0"/>
                        <a:t>Feature 85</a:t>
                      </a:r>
                    </a:p>
                  </a:txBody>
                  <a:tcPr/>
                </a:tc>
                <a:tc>
                  <a:txBody>
                    <a:bodyPr/>
                    <a:lstStyle/>
                    <a:p>
                      <a:r>
                        <a:rPr lang="en-US" dirty="0"/>
                        <a:t>D</a:t>
                      </a:r>
                      <a:r>
                        <a:rPr lang="en-SA" dirty="0"/>
                        <a:t>ifferent lengths of sentences from each other  </a:t>
                      </a:r>
                    </a:p>
                  </a:txBody>
                  <a:tcPr/>
                </a:tc>
                <a:extLst>
                  <a:ext uri="{0D108BD9-81ED-4DB2-BD59-A6C34878D82A}">
                    <a16:rowId xmlns:a16="http://schemas.microsoft.com/office/drawing/2014/main" val="1523945832"/>
                  </a:ext>
                </a:extLst>
              </a:tr>
              <a:tr h="881054">
                <a:tc>
                  <a:txBody>
                    <a:bodyPr/>
                    <a:lstStyle/>
                    <a:p>
                      <a:r>
                        <a:rPr lang="en-SA" dirty="0"/>
                        <a:t>Feature 108</a:t>
                      </a:r>
                    </a:p>
                  </a:txBody>
                  <a:tcPr/>
                </a:tc>
                <a:tc>
                  <a:txBody>
                    <a:bodyPr/>
                    <a:lstStyle/>
                    <a:p>
                      <a:r>
                        <a:rPr lang="en-US" dirty="0"/>
                        <a:t>N</a:t>
                      </a:r>
                      <a:r>
                        <a:rPr lang="en-SA" dirty="0"/>
                        <a:t>umber of polite words compared to total number of words</a:t>
                      </a:r>
                    </a:p>
                  </a:txBody>
                  <a:tcPr/>
                </a:tc>
                <a:extLst>
                  <a:ext uri="{0D108BD9-81ED-4DB2-BD59-A6C34878D82A}">
                    <a16:rowId xmlns:a16="http://schemas.microsoft.com/office/drawing/2014/main" val="3066992466"/>
                  </a:ext>
                </a:extLst>
              </a:tr>
            </a:tbl>
          </a:graphicData>
        </a:graphic>
      </p:graphicFrame>
    </p:spTree>
    <p:extLst>
      <p:ext uri="{BB962C8B-B14F-4D97-AF65-F5344CB8AC3E}">
        <p14:creationId xmlns:p14="http://schemas.microsoft.com/office/powerpoint/2010/main" val="1211975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9369EB5-CD26-55C4-08BC-7B36A47AF235}"/>
            </a:ext>
          </a:extLst>
        </p:cNvPr>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DDB68CA9-5886-8E51-2045-BF03B9D30B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Freeform: Shape 76">
            <a:extLst>
              <a:ext uri="{FF2B5EF4-FFF2-40B4-BE49-F238E27FC236}">
                <a16:creationId xmlns:a16="http://schemas.microsoft.com/office/drawing/2014/main" id="{773360E2-AB58-AC09-32A8-540865E4D9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2C4D4D52-EDB0-AC00-B7BF-14F0EBF56273}"/>
              </a:ext>
            </a:extLst>
          </p:cNvPr>
          <p:cNvSpPr>
            <a:spLocks noGrp="1"/>
          </p:cNvSpPr>
          <p:nvPr>
            <p:ph type="ctrTitle"/>
          </p:nvPr>
        </p:nvSpPr>
        <p:spPr>
          <a:xfrm>
            <a:off x="838200" y="713312"/>
            <a:ext cx="4038600" cy="5431376"/>
          </a:xfrm>
        </p:spPr>
        <p:txBody>
          <a:bodyPr vert="horz" lIns="91440" tIns="45720" rIns="91440" bIns="45720" rtlCol="0" anchor="ctr">
            <a:normAutofit/>
          </a:bodyPr>
          <a:lstStyle/>
          <a:p>
            <a:pPr algn="l"/>
            <a:r>
              <a:rPr lang="en-US" sz="4400" dirty="0">
                <a:solidFill>
                  <a:schemeClr val="tx2"/>
                </a:solidFill>
              </a:rPr>
              <a:t>Results Model</a:t>
            </a:r>
            <a:endParaRPr lang="en-US" sz="4400" kern="1200" dirty="0">
              <a:solidFill>
                <a:schemeClr val="tx1"/>
              </a:solidFill>
              <a:latin typeface="+mj-lt"/>
              <a:ea typeface="+mj-ea"/>
              <a:cs typeface="+mj-cs"/>
            </a:endParaRPr>
          </a:p>
        </p:txBody>
      </p:sp>
      <p:sp>
        <p:nvSpPr>
          <p:cNvPr id="3" name="Subtitle 2">
            <a:extLst>
              <a:ext uri="{FF2B5EF4-FFF2-40B4-BE49-F238E27FC236}">
                <a16:creationId xmlns:a16="http://schemas.microsoft.com/office/drawing/2014/main" id="{FEF80D0A-183A-0A93-1029-69B53588A7FA}"/>
              </a:ext>
            </a:extLst>
          </p:cNvPr>
          <p:cNvSpPr>
            <a:spLocks noGrp="1"/>
          </p:cNvSpPr>
          <p:nvPr>
            <p:ph type="subTitle" idx="1"/>
          </p:nvPr>
        </p:nvSpPr>
        <p:spPr>
          <a:xfrm>
            <a:off x="6095999" y="713313"/>
            <a:ext cx="5257801" cy="5431376"/>
          </a:xfrm>
        </p:spPr>
        <p:txBody>
          <a:bodyPr vert="horz" lIns="91440" tIns="45720" rIns="91440" bIns="45720" rtlCol="0" anchor="ctr">
            <a:normAutofit/>
          </a:bodyPr>
          <a:lstStyle/>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p:txBody>
      </p:sp>
      <p:graphicFrame>
        <p:nvGraphicFramePr>
          <p:cNvPr id="7" name="Table 6">
            <a:extLst>
              <a:ext uri="{FF2B5EF4-FFF2-40B4-BE49-F238E27FC236}">
                <a16:creationId xmlns:a16="http://schemas.microsoft.com/office/drawing/2014/main" id="{39A37E1E-3ED2-86E0-E757-3E710634AFF8}"/>
              </a:ext>
            </a:extLst>
          </p:cNvPr>
          <p:cNvGraphicFramePr>
            <a:graphicFrameLocks noGrp="1"/>
          </p:cNvGraphicFramePr>
          <p:nvPr>
            <p:extLst>
              <p:ext uri="{D42A27DB-BD31-4B8C-83A1-F6EECF244321}">
                <p14:modId xmlns:p14="http://schemas.microsoft.com/office/powerpoint/2010/main" val="3143785878"/>
              </p:ext>
            </p:extLst>
          </p:nvPr>
        </p:nvGraphicFramePr>
        <p:xfrm>
          <a:off x="5209952" y="713311"/>
          <a:ext cx="6379535" cy="2597448"/>
        </p:xfrm>
        <a:graphic>
          <a:graphicData uri="http://schemas.openxmlformats.org/drawingml/2006/table">
            <a:tbl>
              <a:tblPr firstRow="1" bandRow="1">
                <a:tableStyleId>{5C22544A-7EE6-4342-B048-85BDC9FD1C3A}</a:tableStyleId>
              </a:tblPr>
              <a:tblGrid>
                <a:gridCol w="1275907">
                  <a:extLst>
                    <a:ext uri="{9D8B030D-6E8A-4147-A177-3AD203B41FA5}">
                      <a16:colId xmlns:a16="http://schemas.microsoft.com/office/drawing/2014/main" val="1417819115"/>
                    </a:ext>
                  </a:extLst>
                </a:gridCol>
                <a:gridCol w="1275907">
                  <a:extLst>
                    <a:ext uri="{9D8B030D-6E8A-4147-A177-3AD203B41FA5}">
                      <a16:colId xmlns:a16="http://schemas.microsoft.com/office/drawing/2014/main" val="2747352830"/>
                    </a:ext>
                  </a:extLst>
                </a:gridCol>
                <a:gridCol w="1275907">
                  <a:extLst>
                    <a:ext uri="{9D8B030D-6E8A-4147-A177-3AD203B41FA5}">
                      <a16:colId xmlns:a16="http://schemas.microsoft.com/office/drawing/2014/main" val="4072183617"/>
                    </a:ext>
                  </a:extLst>
                </a:gridCol>
                <a:gridCol w="1275907">
                  <a:extLst>
                    <a:ext uri="{9D8B030D-6E8A-4147-A177-3AD203B41FA5}">
                      <a16:colId xmlns:a16="http://schemas.microsoft.com/office/drawing/2014/main" val="3156899362"/>
                    </a:ext>
                  </a:extLst>
                </a:gridCol>
                <a:gridCol w="1275907">
                  <a:extLst>
                    <a:ext uri="{9D8B030D-6E8A-4147-A177-3AD203B41FA5}">
                      <a16:colId xmlns:a16="http://schemas.microsoft.com/office/drawing/2014/main" val="3162557119"/>
                    </a:ext>
                  </a:extLst>
                </a:gridCol>
              </a:tblGrid>
              <a:tr h="432908">
                <a:tc gridSpan="5">
                  <a:txBody>
                    <a:bodyPr/>
                    <a:lstStyle/>
                    <a:p>
                      <a:pPr algn="ctr"/>
                      <a:r>
                        <a:rPr lang="en-SA" dirty="0"/>
                        <a:t>AI</a:t>
                      </a:r>
                    </a:p>
                  </a:txBody>
                  <a:tcPr/>
                </a:tc>
                <a:tc hMerge="1">
                  <a:txBody>
                    <a:bodyPr/>
                    <a:lstStyle/>
                    <a:p>
                      <a:endParaRPr lang="en-SA" dirty="0"/>
                    </a:p>
                  </a:txBody>
                  <a:tcPr/>
                </a:tc>
                <a:tc hMerge="1">
                  <a:txBody>
                    <a:bodyPr/>
                    <a:lstStyle/>
                    <a:p>
                      <a:endParaRPr lang="en-SA" dirty="0"/>
                    </a:p>
                  </a:txBody>
                  <a:tcPr/>
                </a:tc>
                <a:tc hMerge="1">
                  <a:txBody>
                    <a:bodyPr/>
                    <a:lstStyle/>
                    <a:p>
                      <a:endParaRPr lang="en-SA" dirty="0"/>
                    </a:p>
                  </a:txBody>
                  <a:tcPr/>
                </a:tc>
                <a:tc hMerge="1">
                  <a:txBody>
                    <a:bodyPr/>
                    <a:lstStyle/>
                    <a:p>
                      <a:endParaRPr lang="en-SA" dirty="0"/>
                    </a:p>
                  </a:txBody>
                  <a:tcPr/>
                </a:tc>
                <a:extLst>
                  <a:ext uri="{0D108BD9-81ED-4DB2-BD59-A6C34878D82A}">
                    <a16:rowId xmlns:a16="http://schemas.microsoft.com/office/drawing/2014/main" val="2808209002"/>
                  </a:ext>
                </a:extLst>
              </a:tr>
              <a:tr h="432908">
                <a:tc>
                  <a:txBody>
                    <a:bodyPr/>
                    <a:lstStyle/>
                    <a:p>
                      <a:pPr algn="ctr"/>
                      <a:r>
                        <a:rPr lang="en-SA" dirty="0"/>
                        <a:t>Model</a:t>
                      </a:r>
                    </a:p>
                  </a:txBody>
                  <a:tcPr/>
                </a:tc>
                <a:tc>
                  <a:txBody>
                    <a:bodyPr/>
                    <a:lstStyle/>
                    <a:p>
                      <a:pPr algn="ctr"/>
                      <a:r>
                        <a:rPr lang="en-SA" dirty="0"/>
                        <a:t>Accuracy</a:t>
                      </a:r>
                    </a:p>
                  </a:txBody>
                  <a:tcPr/>
                </a:tc>
                <a:tc>
                  <a:txBody>
                    <a:bodyPr/>
                    <a:lstStyle/>
                    <a:p>
                      <a:pPr algn="ctr"/>
                      <a:r>
                        <a:rPr lang="en-SA" dirty="0"/>
                        <a:t>Precision</a:t>
                      </a:r>
                    </a:p>
                  </a:txBody>
                  <a:tcPr/>
                </a:tc>
                <a:tc>
                  <a:txBody>
                    <a:bodyPr/>
                    <a:lstStyle/>
                    <a:p>
                      <a:pPr algn="ctr"/>
                      <a:r>
                        <a:rPr lang="en-SA" dirty="0"/>
                        <a:t>Recall</a:t>
                      </a:r>
                    </a:p>
                  </a:txBody>
                  <a:tcPr/>
                </a:tc>
                <a:tc>
                  <a:txBody>
                    <a:bodyPr/>
                    <a:lstStyle/>
                    <a:p>
                      <a:pPr algn="ctr"/>
                      <a:r>
                        <a:rPr lang="en-SA" dirty="0"/>
                        <a:t>F1-score</a:t>
                      </a:r>
                    </a:p>
                  </a:txBody>
                  <a:tcPr/>
                </a:tc>
                <a:extLst>
                  <a:ext uri="{0D108BD9-81ED-4DB2-BD59-A6C34878D82A}">
                    <a16:rowId xmlns:a16="http://schemas.microsoft.com/office/drawing/2014/main" val="3171104148"/>
                  </a:ext>
                </a:extLst>
              </a:tr>
              <a:tr h="432908">
                <a:tc>
                  <a:txBody>
                    <a:bodyPr/>
                    <a:lstStyle/>
                    <a:p>
                      <a:pPr algn="ctr"/>
                      <a:r>
                        <a:rPr lang="en-SA" dirty="0"/>
                        <a:t>LR </a:t>
                      </a:r>
                    </a:p>
                  </a:txBody>
                  <a:tcPr/>
                </a:tc>
                <a:tc>
                  <a:txBody>
                    <a:bodyPr/>
                    <a:lstStyle/>
                    <a:p>
                      <a:pPr algn="ctr"/>
                      <a:r>
                        <a:rPr lang="en-SA" dirty="0"/>
                        <a:t>0.97</a:t>
                      </a:r>
                    </a:p>
                  </a:txBody>
                  <a:tcPr/>
                </a:tc>
                <a:tc>
                  <a:txBody>
                    <a:bodyPr/>
                    <a:lstStyle/>
                    <a:p>
                      <a:pPr algn="ctr"/>
                      <a:r>
                        <a:rPr lang="en-SA" sz="1800" b="0" i="0" u="none" strike="noStrike" kern="1200" dirty="0">
                          <a:solidFill>
                            <a:schemeClr val="dk1"/>
                          </a:solidFill>
                          <a:effectLst/>
                          <a:latin typeface="+mn-lt"/>
                          <a:ea typeface="+mn-ea"/>
                          <a:cs typeface="+mn-cs"/>
                        </a:rPr>
                        <a:t>0.97</a:t>
                      </a:r>
                      <a:endParaRPr lang="en-SA" dirty="0"/>
                    </a:p>
                  </a:txBody>
                  <a:tcPr/>
                </a:tc>
                <a:tc>
                  <a:txBody>
                    <a:bodyPr/>
                    <a:lstStyle/>
                    <a:p>
                      <a:pPr algn="ctr"/>
                      <a:r>
                        <a:rPr lang="en-SA" sz="1800" b="0" i="0" u="none" strike="noStrike" kern="1200" dirty="0">
                          <a:solidFill>
                            <a:schemeClr val="dk1"/>
                          </a:solidFill>
                          <a:effectLst/>
                          <a:latin typeface="+mn-lt"/>
                          <a:ea typeface="+mn-ea"/>
                          <a:cs typeface="+mn-cs"/>
                        </a:rPr>
                        <a:t>0.99</a:t>
                      </a:r>
                      <a:endParaRPr lang="en-SA" dirty="0"/>
                    </a:p>
                  </a:txBody>
                  <a:tcPr/>
                </a:tc>
                <a:tc>
                  <a:txBody>
                    <a:bodyPr/>
                    <a:lstStyle/>
                    <a:p>
                      <a:pPr algn="ctr"/>
                      <a:r>
                        <a:rPr lang="en-SA" sz="1800" b="0" i="0" u="none" strike="noStrike" kern="1200" dirty="0">
                          <a:solidFill>
                            <a:schemeClr val="dk1"/>
                          </a:solidFill>
                          <a:effectLst/>
                          <a:latin typeface="+mn-lt"/>
                          <a:ea typeface="+mn-ea"/>
                          <a:cs typeface="+mn-cs"/>
                        </a:rPr>
                        <a:t>0.98</a:t>
                      </a:r>
                      <a:endParaRPr lang="en-SA" dirty="0"/>
                    </a:p>
                  </a:txBody>
                  <a:tcPr/>
                </a:tc>
                <a:extLst>
                  <a:ext uri="{0D108BD9-81ED-4DB2-BD59-A6C34878D82A}">
                    <a16:rowId xmlns:a16="http://schemas.microsoft.com/office/drawing/2014/main" val="3260296808"/>
                  </a:ext>
                </a:extLst>
              </a:tr>
              <a:tr h="432908">
                <a:tc>
                  <a:txBody>
                    <a:bodyPr/>
                    <a:lstStyle/>
                    <a:p>
                      <a:pPr algn="ctr"/>
                      <a:r>
                        <a:rPr lang="en-SA" dirty="0"/>
                        <a:t>SVM </a:t>
                      </a:r>
                    </a:p>
                  </a:txBody>
                  <a:tcPr/>
                </a:tc>
                <a:tc>
                  <a:txBody>
                    <a:bodyPr/>
                    <a:lstStyle/>
                    <a:p>
                      <a:pPr algn="ctr"/>
                      <a:r>
                        <a:rPr lang="en-SA" sz="1800" b="0" i="0" u="none" strike="noStrike" kern="1200" dirty="0">
                          <a:solidFill>
                            <a:schemeClr val="dk1"/>
                          </a:solidFill>
                          <a:effectLst/>
                          <a:latin typeface="+mn-lt"/>
                          <a:ea typeface="+mn-ea"/>
                          <a:cs typeface="+mn-cs"/>
                        </a:rPr>
                        <a:t>0.98</a:t>
                      </a:r>
                      <a:endParaRPr lang="en-SA" dirty="0"/>
                    </a:p>
                  </a:txBody>
                  <a:tcPr/>
                </a:tc>
                <a:tc>
                  <a:txBody>
                    <a:bodyPr/>
                    <a:lstStyle/>
                    <a:p>
                      <a:pPr algn="ctr"/>
                      <a:r>
                        <a:rPr lang="en-SA" sz="1800" b="0" i="0" u="none" strike="noStrike" kern="1200" dirty="0">
                          <a:solidFill>
                            <a:schemeClr val="dk1"/>
                          </a:solidFill>
                          <a:effectLst/>
                          <a:latin typeface="+mn-lt"/>
                          <a:ea typeface="+mn-ea"/>
                          <a:cs typeface="+mn-cs"/>
                        </a:rPr>
                        <a:t>0.99</a:t>
                      </a:r>
                      <a:endParaRPr lang="en-SA" dirty="0"/>
                    </a:p>
                  </a:txBody>
                  <a:tcPr/>
                </a:tc>
                <a:tc>
                  <a:txBody>
                    <a:bodyPr/>
                    <a:lstStyle/>
                    <a:p>
                      <a:pPr algn="ctr"/>
                      <a:r>
                        <a:rPr lang="en-SA" sz="1800" b="0" i="0" u="none" strike="noStrike" kern="1200" dirty="0">
                          <a:solidFill>
                            <a:schemeClr val="dk1"/>
                          </a:solidFill>
                          <a:effectLst/>
                          <a:latin typeface="+mn-lt"/>
                          <a:ea typeface="+mn-ea"/>
                          <a:cs typeface="+mn-cs"/>
                        </a:rPr>
                        <a:t>0.99</a:t>
                      </a:r>
                      <a:endParaRPr lang="en-SA" dirty="0"/>
                    </a:p>
                  </a:txBody>
                  <a:tcPr/>
                </a:tc>
                <a:tc>
                  <a:txBody>
                    <a:bodyPr/>
                    <a:lstStyle/>
                    <a:p>
                      <a:pPr algn="ctr"/>
                      <a:r>
                        <a:rPr lang="en-SA" sz="1800" b="0" i="0" u="none" strike="noStrike" kern="1200" dirty="0">
                          <a:solidFill>
                            <a:schemeClr val="dk1"/>
                          </a:solidFill>
                          <a:effectLst/>
                          <a:latin typeface="+mn-lt"/>
                          <a:ea typeface="+mn-ea"/>
                          <a:cs typeface="+mn-cs"/>
                        </a:rPr>
                        <a:t>0.99</a:t>
                      </a:r>
                      <a:endParaRPr lang="en-SA" dirty="0"/>
                    </a:p>
                  </a:txBody>
                  <a:tcPr/>
                </a:tc>
                <a:extLst>
                  <a:ext uri="{0D108BD9-81ED-4DB2-BD59-A6C34878D82A}">
                    <a16:rowId xmlns:a16="http://schemas.microsoft.com/office/drawing/2014/main" val="2546687518"/>
                  </a:ext>
                </a:extLst>
              </a:tr>
              <a:tr h="432908">
                <a:tc>
                  <a:txBody>
                    <a:bodyPr/>
                    <a:lstStyle/>
                    <a:p>
                      <a:pPr algn="ctr"/>
                      <a:r>
                        <a:rPr lang="en-SA" dirty="0"/>
                        <a:t>RF </a:t>
                      </a:r>
                    </a:p>
                  </a:txBody>
                  <a:tcPr/>
                </a:tc>
                <a:tc>
                  <a:txBody>
                    <a:bodyPr/>
                    <a:lstStyle/>
                    <a:p>
                      <a:pPr algn="ctr"/>
                      <a:r>
                        <a:rPr lang="en-SA" sz="1800" b="0" i="0" u="none" strike="noStrike" kern="1200" dirty="0">
                          <a:solidFill>
                            <a:schemeClr val="dk1"/>
                          </a:solidFill>
                          <a:effectLst/>
                          <a:latin typeface="+mn-lt"/>
                          <a:ea typeface="+mn-ea"/>
                          <a:cs typeface="+mn-cs"/>
                        </a:rPr>
                        <a:t>0.98</a:t>
                      </a:r>
                      <a:endParaRPr lang="en-SA" dirty="0"/>
                    </a:p>
                  </a:txBody>
                  <a:tcPr/>
                </a:tc>
                <a:tc>
                  <a:txBody>
                    <a:bodyPr/>
                    <a:lstStyle/>
                    <a:p>
                      <a:pPr algn="ctr"/>
                      <a:r>
                        <a:rPr lang="en-SA" sz="1800" b="0" i="0" u="none" strike="noStrike" kern="1200" dirty="0">
                          <a:solidFill>
                            <a:schemeClr val="dk1"/>
                          </a:solidFill>
                          <a:effectLst/>
                          <a:latin typeface="+mn-lt"/>
                          <a:ea typeface="+mn-ea"/>
                          <a:cs typeface="+mn-cs"/>
                        </a:rPr>
                        <a:t>0.99</a:t>
                      </a:r>
                      <a:endParaRPr lang="en-SA" dirty="0"/>
                    </a:p>
                  </a:txBody>
                  <a:tcPr/>
                </a:tc>
                <a:tc>
                  <a:txBody>
                    <a:bodyPr/>
                    <a:lstStyle/>
                    <a:p>
                      <a:pPr algn="ctr"/>
                      <a:r>
                        <a:rPr lang="en-SA" sz="1800" b="0" i="0" u="none" strike="noStrike" kern="1200" dirty="0">
                          <a:solidFill>
                            <a:schemeClr val="dk1"/>
                          </a:solidFill>
                          <a:effectLst/>
                          <a:latin typeface="+mn-lt"/>
                          <a:ea typeface="+mn-ea"/>
                          <a:cs typeface="+mn-cs"/>
                        </a:rPr>
                        <a:t>0.99</a:t>
                      </a:r>
                      <a:endParaRPr lang="en-SA" dirty="0"/>
                    </a:p>
                  </a:txBody>
                  <a:tcPr/>
                </a:tc>
                <a:tc>
                  <a:txBody>
                    <a:bodyPr/>
                    <a:lstStyle/>
                    <a:p>
                      <a:pPr algn="ctr"/>
                      <a:r>
                        <a:rPr lang="en-SA" sz="1800" b="0" i="0" u="none" strike="noStrike" kern="1200" dirty="0">
                          <a:solidFill>
                            <a:schemeClr val="dk1"/>
                          </a:solidFill>
                          <a:effectLst/>
                          <a:latin typeface="+mn-lt"/>
                          <a:ea typeface="+mn-ea"/>
                          <a:cs typeface="+mn-cs"/>
                        </a:rPr>
                        <a:t>0.99</a:t>
                      </a:r>
                      <a:endParaRPr lang="en-SA" dirty="0"/>
                    </a:p>
                  </a:txBody>
                  <a:tcPr/>
                </a:tc>
                <a:extLst>
                  <a:ext uri="{0D108BD9-81ED-4DB2-BD59-A6C34878D82A}">
                    <a16:rowId xmlns:a16="http://schemas.microsoft.com/office/drawing/2014/main" val="1359057729"/>
                  </a:ext>
                </a:extLst>
              </a:tr>
              <a:tr h="432908">
                <a:tc>
                  <a:txBody>
                    <a:bodyPr/>
                    <a:lstStyle/>
                    <a:p>
                      <a:pPr algn="ctr"/>
                      <a:r>
                        <a:rPr lang="en-SA" dirty="0"/>
                        <a:t>FFNN </a:t>
                      </a:r>
                    </a:p>
                  </a:txBody>
                  <a:tcPr/>
                </a:tc>
                <a:tc>
                  <a:txBody>
                    <a:bodyPr/>
                    <a:lstStyle/>
                    <a:p>
                      <a:pPr algn="ctr"/>
                      <a:r>
                        <a:rPr lang="en-SA" sz="1800" b="0" i="0" u="none" strike="noStrike" kern="1200" dirty="0">
                          <a:solidFill>
                            <a:schemeClr val="dk1"/>
                          </a:solidFill>
                          <a:effectLst/>
                          <a:latin typeface="+mn-lt"/>
                          <a:ea typeface="+mn-ea"/>
                          <a:cs typeface="+mn-cs"/>
                        </a:rPr>
                        <a:t>0.84</a:t>
                      </a:r>
                      <a:endParaRPr lang="en-SA" dirty="0"/>
                    </a:p>
                  </a:txBody>
                  <a:tcPr/>
                </a:tc>
                <a:tc>
                  <a:txBody>
                    <a:bodyPr/>
                    <a:lstStyle/>
                    <a:p>
                      <a:pPr algn="ctr"/>
                      <a:r>
                        <a:rPr lang="en-SA" sz="1800" b="0" i="0" u="none" strike="noStrike" kern="1200" dirty="0">
                          <a:solidFill>
                            <a:schemeClr val="dk1"/>
                          </a:solidFill>
                          <a:effectLst/>
                          <a:latin typeface="+mn-lt"/>
                          <a:ea typeface="+mn-ea"/>
                          <a:cs typeface="+mn-cs"/>
                        </a:rPr>
                        <a:t>0.85</a:t>
                      </a:r>
                      <a:endParaRPr lang="en-SA" dirty="0"/>
                    </a:p>
                  </a:txBody>
                  <a:tcPr/>
                </a:tc>
                <a:tc>
                  <a:txBody>
                    <a:bodyPr/>
                    <a:lstStyle/>
                    <a:p>
                      <a:pPr algn="ctr"/>
                      <a:r>
                        <a:rPr lang="en-SA" sz="1800" b="0" i="0" u="none" strike="noStrike" kern="1200" dirty="0">
                          <a:solidFill>
                            <a:schemeClr val="dk1"/>
                          </a:solidFill>
                          <a:effectLst/>
                          <a:latin typeface="+mn-lt"/>
                          <a:ea typeface="+mn-ea"/>
                          <a:cs typeface="+mn-cs"/>
                        </a:rPr>
                        <a:t>0.97</a:t>
                      </a:r>
                      <a:endParaRPr lang="en-SA" dirty="0"/>
                    </a:p>
                  </a:txBody>
                  <a:tcPr/>
                </a:tc>
                <a:tc>
                  <a:txBody>
                    <a:bodyPr/>
                    <a:lstStyle/>
                    <a:p>
                      <a:pPr algn="ctr"/>
                      <a:r>
                        <a:rPr lang="en-SA" sz="1800" b="0" i="0" u="none" strike="noStrike" kern="1200" dirty="0">
                          <a:solidFill>
                            <a:schemeClr val="dk1"/>
                          </a:solidFill>
                          <a:effectLst/>
                          <a:latin typeface="+mn-lt"/>
                          <a:ea typeface="+mn-ea"/>
                          <a:cs typeface="+mn-cs"/>
                        </a:rPr>
                        <a:t>0.91</a:t>
                      </a:r>
                      <a:endParaRPr lang="en-SA" dirty="0"/>
                    </a:p>
                  </a:txBody>
                  <a:tcPr/>
                </a:tc>
                <a:extLst>
                  <a:ext uri="{0D108BD9-81ED-4DB2-BD59-A6C34878D82A}">
                    <a16:rowId xmlns:a16="http://schemas.microsoft.com/office/drawing/2014/main" val="2482679440"/>
                  </a:ext>
                </a:extLst>
              </a:tr>
            </a:tbl>
          </a:graphicData>
        </a:graphic>
      </p:graphicFrame>
      <p:graphicFrame>
        <p:nvGraphicFramePr>
          <p:cNvPr id="8" name="Table 7">
            <a:extLst>
              <a:ext uri="{FF2B5EF4-FFF2-40B4-BE49-F238E27FC236}">
                <a16:creationId xmlns:a16="http://schemas.microsoft.com/office/drawing/2014/main" id="{33FC19AC-2984-3E2E-7AAD-CC094D6EF55A}"/>
              </a:ext>
            </a:extLst>
          </p:cNvPr>
          <p:cNvGraphicFramePr>
            <a:graphicFrameLocks noGrp="1"/>
          </p:cNvGraphicFramePr>
          <p:nvPr>
            <p:extLst>
              <p:ext uri="{D42A27DB-BD31-4B8C-83A1-F6EECF244321}">
                <p14:modId xmlns:p14="http://schemas.microsoft.com/office/powerpoint/2010/main" val="711244187"/>
              </p:ext>
            </p:extLst>
          </p:nvPr>
        </p:nvGraphicFramePr>
        <p:xfrm>
          <a:off x="5209950" y="3547241"/>
          <a:ext cx="6379535" cy="2597445"/>
        </p:xfrm>
        <a:graphic>
          <a:graphicData uri="http://schemas.openxmlformats.org/drawingml/2006/table">
            <a:tbl>
              <a:tblPr firstRow="1" bandRow="1">
                <a:tableStyleId>{5C22544A-7EE6-4342-B048-85BDC9FD1C3A}</a:tableStyleId>
              </a:tblPr>
              <a:tblGrid>
                <a:gridCol w="1275907">
                  <a:extLst>
                    <a:ext uri="{9D8B030D-6E8A-4147-A177-3AD203B41FA5}">
                      <a16:colId xmlns:a16="http://schemas.microsoft.com/office/drawing/2014/main" val="2769832982"/>
                    </a:ext>
                  </a:extLst>
                </a:gridCol>
                <a:gridCol w="1275907">
                  <a:extLst>
                    <a:ext uri="{9D8B030D-6E8A-4147-A177-3AD203B41FA5}">
                      <a16:colId xmlns:a16="http://schemas.microsoft.com/office/drawing/2014/main" val="1393531"/>
                    </a:ext>
                  </a:extLst>
                </a:gridCol>
                <a:gridCol w="1275907">
                  <a:extLst>
                    <a:ext uri="{9D8B030D-6E8A-4147-A177-3AD203B41FA5}">
                      <a16:colId xmlns:a16="http://schemas.microsoft.com/office/drawing/2014/main" val="635617026"/>
                    </a:ext>
                  </a:extLst>
                </a:gridCol>
                <a:gridCol w="1275907">
                  <a:extLst>
                    <a:ext uri="{9D8B030D-6E8A-4147-A177-3AD203B41FA5}">
                      <a16:colId xmlns:a16="http://schemas.microsoft.com/office/drawing/2014/main" val="3814759077"/>
                    </a:ext>
                  </a:extLst>
                </a:gridCol>
                <a:gridCol w="1275907">
                  <a:extLst>
                    <a:ext uri="{9D8B030D-6E8A-4147-A177-3AD203B41FA5}">
                      <a16:colId xmlns:a16="http://schemas.microsoft.com/office/drawing/2014/main" val="346432404"/>
                    </a:ext>
                  </a:extLst>
                </a:gridCol>
              </a:tblGrid>
              <a:tr h="519489">
                <a:tc gridSpan="5">
                  <a:txBody>
                    <a:bodyPr/>
                    <a:lstStyle/>
                    <a:p>
                      <a:pPr algn="ctr"/>
                      <a:r>
                        <a:rPr lang="en-SA" dirty="0"/>
                        <a:t>Human</a:t>
                      </a:r>
                    </a:p>
                  </a:txBody>
                  <a:tcPr/>
                </a:tc>
                <a:tc hMerge="1">
                  <a:txBody>
                    <a:bodyPr/>
                    <a:lstStyle/>
                    <a:p>
                      <a:endParaRPr lang="en-SA" dirty="0"/>
                    </a:p>
                  </a:txBody>
                  <a:tcPr/>
                </a:tc>
                <a:tc hMerge="1">
                  <a:txBody>
                    <a:bodyPr/>
                    <a:lstStyle/>
                    <a:p>
                      <a:endParaRPr lang="en-SA" dirty="0"/>
                    </a:p>
                  </a:txBody>
                  <a:tcPr/>
                </a:tc>
                <a:tc hMerge="1">
                  <a:txBody>
                    <a:bodyPr/>
                    <a:lstStyle/>
                    <a:p>
                      <a:endParaRPr lang="en-SA" dirty="0"/>
                    </a:p>
                  </a:txBody>
                  <a:tcPr/>
                </a:tc>
                <a:tc hMerge="1">
                  <a:txBody>
                    <a:bodyPr/>
                    <a:lstStyle/>
                    <a:p>
                      <a:endParaRPr lang="en-SA" dirty="0"/>
                    </a:p>
                  </a:txBody>
                  <a:tcPr/>
                </a:tc>
                <a:extLst>
                  <a:ext uri="{0D108BD9-81ED-4DB2-BD59-A6C34878D82A}">
                    <a16:rowId xmlns:a16="http://schemas.microsoft.com/office/drawing/2014/main" val="3214458780"/>
                  </a:ext>
                </a:extLst>
              </a:tr>
              <a:tr h="51948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SA" dirty="0"/>
                        <a:t>LR </a:t>
                      </a:r>
                    </a:p>
                  </a:txBody>
                  <a:tcPr/>
                </a:tc>
                <a:tc>
                  <a:txBody>
                    <a:bodyPr/>
                    <a:lstStyle/>
                    <a:p>
                      <a:pPr algn="ctr"/>
                      <a:r>
                        <a:rPr lang="en-SA" sz="1800" b="0" i="0" u="none" strike="noStrike" kern="1200" dirty="0">
                          <a:solidFill>
                            <a:schemeClr val="dk1"/>
                          </a:solidFill>
                          <a:effectLst/>
                          <a:latin typeface="+mn-lt"/>
                          <a:ea typeface="+mn-ea"/>
                          <a:cs typeface="+mn-cs"/>
                        </a:rPr>
                        <a:t>0.97</a:t>
                      </a:r>
                      <a:endParaRPr lang="en-SA" dirty="0"/>
                    </a:p>
                  </a:txBody>
                  <a:tcPr/>
                </a:tc>
                <a:tc>
                  <a:txBody>
                    <a:bodyPr/>
                    <a:lstStyle/>
                    <a:p>
                      <a:pPr algn="ctr"/>
                      <a:r>
                        <a:rPr lang="en-SA" sz="1800" b="0" i="0" u="none" strike="noStrike" kern="1200" dirty="0">
                          <a:solidFill>
                            <a:schemeClr val="dk1"/>
                          </a:solidFill>
                          <a:effectLst/>
                          <a:latin typeface="+mn-lt"/>
                          <a:ea typeface="+mn-ea"/>
                          <a:cs typeface="+mn-cs"/>
                        </a:rPr>
                        <a:t>0.96</a:t>
                      </a:r>
                      <a:endParaRPr lang="en-SA" dirty="0"/>
                    </a:p>
                  </a:txBody>
                  <a:tcPr/>
                </a:tc>
                <a:tc>
                  <a:txBody>
                    <a:bodyPr/>
                    <a:lstStyle/>
                    <a:p>
                      <a:pPr algn="ctr"/>
                      <a:r>
                        <a:rPr lang="en-SA" sz="1800" b="0" i="0" u="none" strike="noStrike" kern="1200" dirty="0">
                          <a:solidFill>
                            <a:schemeClr val="dk1"/>
                          </a:solidFill>
                          <a:effectLst/>
                          <a:latin typeface="+mn-lt"/>
                          <a:ea typeface="+mn-ea"/>
                          <a:cs typeface="+mn-cs"/>
                        </a:rPr>
                        <a:t>0.90</a:t>
                      </a:r>
                      <a:endParaRPr lang="en-SA" dirty="0"/>
                    </a:p>
                  </a:txBody>
                  <a:tcPr/>
                </a:tc>
                <a:tc>
                  <a:txBody>
                    <a:bodyPr/>
                    <a:lstStyle/>
                    <a:p>
                      <a:pPr algn="ctr"/>
                      <a:r>
                        <a:rPr lang="en-SA" sz="1800" b="0" i="0" u="none" strike="noStrike" kern="1200" dirty="0">
                          <a:solidFill>
                            <a:schemeClr val="dk1"/>
                          </a:solidFill>
                          <a:effectLst/>
                          <a:latin typeface="+mn-lt"/>
                          <a:ea typeface="+mn-ea"/>
                          <a:cs typeface="+mn-cs"/>
                        </a:rPr>
                        <a:t>0.93</a:t>
                      </a:r>
                      <a:endParaRPr lang="en-SA" dirty="0"/>
                    </a:p>
                  </a:txBody>
                  <a:tcPr/>
                </a:tc>
                <a:extLst>
                  <a:ext uri="{0D108BD9-81ED-4DB2-BD59-A6C34878D82A}">
                    <a16:rowId xmlns:a16="http://schemas.microsoft.com/office/drawing/2014/main" val="3578461470"/>
                  </a:ext>
                </a:extLst>
              </a:tr>
              <a:tr h="519489">
                <a:tc>
                  <a:txBody>
                    <a:bodyPr/>
                    <a:lstStyle/>
                    <a:p>
                      <a:pPr algn="ctr"/>
                      <a:r>
                        <a:rPr lang="en-SA" dirty="0"/>
                        <a:t>SVM </a:t>
                      </a:r>
                    </a:p>
                  </a:txBody>
                  <a:tcPr/>
                </a:tc>
                <a:tc>
                  <a:txBody>
                    <a:bodyPr/>
                    <a:lstStyle/>
                    <a:p>
                      <a:pPr algn="ctr"/>
                      <a:r>
                        <a:rPr lang="en-SA" sz="1800" b="0" i="0" u="none" strike="noStrike" kern="1200" dirty="0">
                          <a:solidFill>
                            <a:schemeClr val="dk1"/>
                          </a:solidFill>
                          <a:effectLst/>
                          <a:latin typeface="+mn-lt"/>
                          <a:ea typeface="+mn-ea"/>
                          <a:cs typeface="+mn-cs"/>
                        </a:rPr>
                        <a:t>0.98</a:t>
                      </a:r>
                      <a:endParaRPr lang="en-SA" dirty="0"/>
                    </a:p>
                  </a:txBody>
                  <a:tcPr/>
                </a:tc>
                <a:tc>
                  <a:txBody>
                    <a:bodyPr/>
                    <a:lstStyle/>
                    <a:p>
                      <a:pPr algn="ctr"/>
                      <a:r>
                        <a:rPr lang="en-SA" sz="1800" b="0" i="0" u="none" strike="noStrike" kern="1200" dirty="0">
                          <a:solidFill>
                            <a:schemeClr val="dk1"/>
                          </a:solidFill>
                          <a:effectLst/>
                          <a:latin typeface="+mn-lt"/>
                          <a:ea typeface="+mn-ea"/>
                          <a:cs typeface="+mn-cs"/>
                        </a:rPr>
                        <a:t>0.96</a:t>
                      </a:r>
                      <a:endParaRPr lang="en-SA" dirty="0"/>
                    </a:p>
                  </a:txBody>
                  <a:tcPr/>
                </a:tc>
                <a:tc>
                  <a:txBody>
                    <a:bodyPr/>
                    <a:lstStyle/>
                    <a:p>
                      <a:pPr algn="ctr"/>
                      <a:r>
                        <a:rPr lang="en-SA" sz="1800" b="0" i="0" u="none" strike="noStrike" kern="1200" dirty="0">
                          <a:solidFill>
                            <a:schemeClr val="dk1"/>
                          </a:solidFill>
                          <a:effectLst/>
                          <a:latin typeface="+mn-lt"/>
                          <a:ea typeface="+mn-ea"/>
                          <a:cs typeface="+mn-cs"/>
                        </a:rPr>
                        <a:t>0.96</a:t>
                      </a:r>
                      <a:endParaRPr lang="en-SA" dirty="0"/>
                    </a:p>
                  </a:txBody>
                  <a:tcPr/>
                </a:tc>
                <a:tc>
                  <a:txBody>
                    <a:bodyPr/>
                    <a:lstStyle/>
                    <a:p>
                      <a:pPr algn="ctr"/>
                      <a:r>
                        <a:rPr lang="en-SA" sz="1800" b="0" i="0" u="none" strike="noStrike" kern="1200" dirty="0">
                          <a:solidFill>
                            <a:schemeClr val="dk1"/>
                          </a:solidFill>
                          <a:effectLst/>
                          <a:latin typeface="+mn-lt"/>
                          <a:ea typeface="+mn-ea"/>
                          <a:cs typeface="+mn-cs"/>
                        </a:rPr>
                        <a:t>0.96</a:t>
                      </a:r>
                      <a:endParaRPr lang="en-SA" dirty="0"/>
                    </a:p>
                  </a:txBody>
                  <a:tcPr/>
                </a:tc>
                <a:extLst>
                  <a:ext uri="{0D108BD9-81ED-4DB2-BD59-A6C34878D82A}">
                    <a16:rowId xmlns:a16="http://schemas.microsoft.com/office/drawing/2014/main" val="2368219576"/>
                  </a:ext>
                </a:extLst>
              </a:tr>
              <a:tr h="519489">
                <a:tc>
                  <a:txBody>
                    <a:bodyPr/>
                    <a:lstStyle/>
                    <a:p>
                      <a:pPr algn="ctr"/>
                      <a:r>
                        <a:rPr lang="en-SA" dirty="0"/>
                        <a:t>RF </a:t>
                      </a:r>
                    </a:p>
                  </a:txBody>
                  <a:tcPr/>
                </a:tc>
                <a:tc>
                  <a:txBody>
                    <a:bodyPr/>
                    <a:lstStyle/>
                    <a:p>
                      <a:pPr algn="ctr"/>
                      <a:r>
                        <a:rPr lang="en-SA" sz="1800" b="0" i="0" u="none" strike="noStrike" kern="1200" dirty="0">
                          <a:solidFill>
                            <a:schemeClr val="dk1"/>
                          </a:solidFill>
                          <a:effectLst/>
                          <a:latin typeface="+mn-lt"/>
                          <a:ea typeface="+mn-ea"/>
                          <a:cs typeface="+mn-cs"/>
                        </a:rPr>
                        <a:t>0.98</a:t>
                      </a:r>
                      <a:endParaRPr lang="en-SA" dirty="0"/>
                    </a:p>
                  </a:txBody>
                  <a:tcPr/>
                </a:tc>
                <a:tc>
                  <a:txBody>
                    <a:bodyPr/>
                    <a:lstStyle/>
                    <a:p>
                      <a:pPr algn="ctr"/>
                      <a:r>
                        <a:rPr lang="en-SA" sz="1800" b="0" i="0" u="none" strike="noStrike" kern="1200" dirty="0">
                          <a:solidFill>
                            <a:schemeClr val="dk1"/>
                          </a:solidFill>
                          <a:effectLst/>
                          <a:latin typeface="+mn-lt"/>
                          <a:ea typeface="+mn-ea"/>
                          <a:cs typeface="+mn-cs"/>
                        </a:rPr>
                        <a:t>0.97</a:t>
                      </a:r>
                      <a:endParaRPr lang="en-SA" dirty="0"/>
                    </a:p>
                  </a:txBody>
                  <a:tcPr/>
                </a:tc>
                <a:tc>
                  <a:txBody>
                    <a:bodyPr/>
                    <a:lstStyle/>
                    <a:p>
                      <a:pPr algn="ctr"/>
                      <a:r>
                        <a:rPr lang="en-SA" sz="1800" b="0" i="0" u="none" strike="noStrike" kern="1200" dirty="0">
                          <a:solidFill>
                            <a:schemeClr val="dk1"/>
                          </a:solidFill>
                          <a:effectLst/>
                          <a:latin typeface="+mn-lt"/>
                          <a:ea typeface="+mn-ea"/>
                          <a:cs typeface="+mn-cs"/>
                        </a:rPr>
                        <a:t>0.98</a:t>
                      </a:r>
                      <a:endParaRPr lang="en-SA" dirty="0"/>
                    </a:p>
                  </a:txBody>
                  <a:tcPr/>
                </a:tc>
                <a:tc>
                  <a:txBody>
                    <a:bodyPr/>
                    <a:lstStyle/>
                    <a:p>
                      <a:pPr algn="ctr"/>
                      <a:r>
                        <a:rPr lang="en-SA" sz="1800" b="0" i="0" u="none" strike="noStrike" kern="1200" dirty="0">
                          <a:solidFill>
                            <a:schemeClr val="dk1"/>
                          </a:solidFill>
                          <a:effectLst/>
                          <a:latin typeface="+mn-lt"/>
                          <a:ea typeface="+mn-ea"/>
                          <a:cs typeface="+mn-cs"/>
                        </a:rPr>
                        <a:t>0.97</a:t>
                      </a:r>
                      <a:endParaRPr lang="en-SA" dirty="0"/>
                    </a:p>
                  </a:txBody>
                  <a:tcPr/>
                </a:tc>
                <a:extLst>
                  <a:ext uri="{0D108BD9-81ED-4DB2-BD59-A6C34878D82A}">
                    <a16:rowId xmlns:a16="http://schemas.microsoft.com/office/drawing/2014/main" val="590783208"/>
                  </a:ext>
                </a:extLst>
              </a:tr>
              <a:tr h="519489">
                <a:tc>
                  <a:txBody>
                    <a:bodyPr/>
                    <a:lstStyle/>
                    <a:p>
                      <a:pPr algn="ctr"/>
                      <a:r>
                        <a:rPr lang="en-SA" dirty="0"/>
                        <a:t>FFNN </a:t>
                      </a:r>
                    </a:p>
                  </a:txBody>
                  <a:tcPr/>
                </a:tc>
                <a:tc>
                  <a:txBody>
                    <a:bodyPr/>
                    <a:lstStyle/>
                    <a:p>
                      <a:pPr algn="ctr"/>
                      <a:r>
                        <a:rPr lang="en-SA" sz="1800" b="0" i="0" u="none" strike="noStrike" kern="1200" dirty="0">
                          <a:solidFill>
                            <a:schemeClr val="dk1"/>
                          </a:solidFill>
                          <a:effectLst/>
                          <a:latin typeface="+mn-lt"/>
                          <a:ea typeface="+mn-ea"/>
                          <a:cs typeface="+mn-cs"/>
                        </a:rPr>
                        <a:t>0.84</a:t>
                      </a:r>
                      <a:endParaRPr lang="en-SA" dirty="0"/>
                    </a:p>
                  </a:txBody>
                  <a:tcPr/>
                </a:tc>
                <a:tc>
                  <a:txBody>
                    <a:bodyPr/>
                    <a:lstStyle/>
                    <a:p>
                      <a:pPr algn="ctr"/>
                      <a:r>
                        <a:rPr lang="en-SA" sz="1800" b="0" i="0" u="none" strike="noStrike" kern="1200" dirty="0">
                          <a:solidFill>
                            <a:schemeClr val="dk1"/>
                          </a:solidFill>
                          <a:effectLst/>
                          <a:latin typeface="+mn-lt"/>
                          <a:ea typeface="+mn-ea"/>
                          <a:cs typeface="+mn-cs"/>
                        </a:rPr>
                        <a:t>0.75</a:t>
                      </a:r>
                      <a:endParaRPr lang="en-SA" dirty="0"/>
                    </a:p>
                  </a:txBody>
                  <a:tcPr/>
                </a:tc>
                <a:tc>
                  <a:txBody>
                    <a:bodyPr/>
                    <a:lstStyle/>
                    <a:p>
                      <a:pPr algn="ctr"/>
                      <a:r>
                        <a:rPr lang="en-SA" sz="1800" b="0" i="0" u="none" strike="noStrike" kern="1200" dirty="0">
                          <a:solidFill>
                            <a:schemeClr val="dk1"/>
                          </a:solidFill>
                          <a:effectLst/>
                          <a:latin typeface="+mn-lt"/>
                          <a:ea typeface="+mn-ea"/>
                          <a:cs typeface="+mn-cs"/>
                        </a:rPr>
                        <a:t>0.36</a:t>
                      </a:r>
                      <a:endParaRPr lang="en-SA" dirty="0"/>
                    </a:p>
                  </a:txBody>
                  <a:tcPr/>
                </a:tc>
                <a:tc>
                  <a:txBody>
                    <a:bodyPr/>
                    <a:lstStyle/>
                    <a:p>
                      <a:pPr algn="ctr"/>
                      <a:r>
                        <a:rPr lang="en-SA" sz="1800" b="0" i="0" u="none" strike="noStrike" kern="1200" dirty="0">
                          <a:solidFill>
                            <a:schemeClr val="dk1"/>
                          </a:solidFill>
                          <a:effectLst/>
                          <a:latin typeface="+mn-lt"/>
                          <a:ea typeface="+mn-ea"/>
                          <a:cs typeface="+mn-cs"/>
                        </a:rPr>
                        <a:t>0.49</a:t>
                      </a:r>
                      <a:endParaRPr lang="en-SA" dirty="0"/>
                    </a:p>
                  </a:txBody>
                  <a:tcPr/>
                </a:tc>
                <a:extLst>
                  <a:ext uri="{0D108BD9-81ED-4DB2-BD59-A6C34878D82A}">
                    <a16:rowId xmlns:a16="http://schemas.microsoft.com/office/drawing/2014/main" val="23676240"/>
                  </a:ext>
                </a:extLst>
              </a:tr>
            </a:tbl>
          </a:graphicData>
        </a:graphic>
      </p:graphicFrame>
    </p:spTree>
    <p:extLst>
      <p:ext uri="{BB962C8B-B14F-4D97-AF65-F5344CB8AC3E}">
        <p14:creationId xmlns:p14="http://schemas.microsoft.com/office/powerpoint/2010/main" val="406439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81AAD-B885-4428-6E07-34FF16E2D8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F4319F-D8F9-6912-9348-AA87BB426A67}"/>
              </a:ext>
            </a:extLst>
          </p:cNvPr>
          <p:cNvSpPr>
            <a:spLocks noGrp="1"/>
          </p:cNvSpPr>
          <p:nvPr>
            <p:ph type="ctrTitle"/>
          </p:nvPr>
        </p:nvSpPr>
        <p:spPr>
          <a:xfrm>
            <a:off x="838200" y="713312"/>
            <a:ext cx="4038600" cy="5431376"/>
          </a:xfrm>
        </p:spPr>
        <p:txBody>
          <a:bodyPr vert="horz" lIns="91440" tIns="45720" rIns="91440" bIns="45720" rtlCol="0" anchor="ctr">
            <a:normAutofit/>
          </a:bodyPr>
          <a:lstStyle/>
          <a:p>
            <a:pPr algn="l"/>
            <a:r>
              <a:rPr lang="en-US" sz="4400" dirty="0">
                <a:solidFill>
                  <a:schemeClr val="tx2"/>
                </a:solidFill>
              </a:rPr>
              <a:t>Confusion Matrix Logistic Regression</a:t>
            </a:r>
            <a:endParaRPr lang="en-US" sz="4400" kern="1200" dirty="0">
              <a:solidFill>
                <a:schemeClr val="tx1"/>
              </a:solidFill>
              <a:latin typeface="+mj-lt"/>
              <a:ea typeface="+mj-ea"/>
              <a:cs typeface="+mj-cs"/>
            </a:endParaRPr>
          </a:p>
        </p:txBody>
      </p:sp>
      <p:sp>
        <p:nvSpPr>
          <p:cNvPr id="3" name="Subtitle 2">
            <a:extLst>
              <a:ext uri="{FF2B5EF4-FFF2-40B4-BE49-F238E27FC236}">
                <a16:creationId xmlns:a16="http://schemas.microsoft.com/office/drawing/2014/main" id="{181671BD-7CD6-1386-C916-19C810A8B367}"/>
              </a:ext>
            </a:extLst>
          </p:cNvPr>
          <p:cNvSpPr>
            <a:spLocks noGrp="1"/>
          </p:cNvSpPr>
          <p:nvPr>
            <p:ph type="subTitle" idx="1"/>
          </p:nvPr>
        </p:nvSpPr>
        <p:spPr>
          <a:xfrm>
            <a:off x="5816184" y="1849135"/>
            <a:ext cx="6375816" cy="4295553"/>
          </a:xfrm>
        </p:spPr>
        <p:txBody>
          <a:bodyPr vert="horz" lIns="91440" tIns="45720" rIns="91440" bIns="45720" rtlCol="0" anchor="ctr">
            <a:normAutofit fontScale="25000" lnSpcReduction="20000"/>
          </a:bodyPr>
          <a:lstStyle/>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5000" dirty="0">
              <a:solidFill>
                <a:schemeClr val="tx2"/>
              </a:solidFill>
              <a:latin typeface="Cabin" pitchFamily="34" charset="0"/>
              <a:ea typeface="Cabin" pitchFamily="34" charset="-122"/>
              <a:cs typeface="Cabin" pitchFamily="34" charset="-120"/>
            </a:endParaRPr>
          </a:p>
          <a:p>
            <a:pPr algn="l"/>
            <a:r>
              <a:rPr lang="en-US" sz="6200" dirty="0"/>
              <a:t>Total abstract for AI 4978: </a:t>
            </a:r>
          </a:p>
          <a:p>
            <a:pPr algn="l"/>
            <a:r>
              <a:rPr lang="en-US" sz="6200" dirty="0"/>
              <a:t>classified correct is 4939, misclassified is 39</a:t>
            </a:r>
          </a:p>
          <a:p>
            <a:pPr algn="l"/>
            <a:r>
              <a:rPr lang="en-US" sz="6200" dirty="0"/>
              <a:t>Total abstract for Human 1313: </a:t>
            </a:r>
          </a:p>
          <a:p>
            <a:pPr algn="l"/>
            <a:r>
              <a:rPr lang="en-US" sz="6200" dirty="0"/>
              <a:t>classified correct is 1194, misclassified is 119</a:t>
            </a: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p:txBody>
      </p:sp>
      <p:pic>
        <p:nvPicPr>
          <p:cNvPr id="5" name="Picture 4" descr="A graph with blue squares and numbers&#10;&#10;AI-generated content may be incorrect.">
            <a:extLst>
              <a:ext uri="{FF2B5EF4-FFF2-40B4-BE49-F238E27FC236}">
                <a16:creationId xmlns:a16="http://schemas.microsoft.com/office/drawing/2014/main" id="{6AA38F86-48E4-59C7-DB1F-402486B77B2E}"/>
              </a:ext>
            </a:extLst>
          </p:cNvPr>
          <p:cNvPicPr>
            <a:picLocks noChangeAspect="1"/>
          </p:cNvPicPr>
          <p:nvPr/>
        </p:nvPicPr>
        <p:blipFill>
          <a:blip r:embed="rId2">
            <a:extLst>
              <a:ext uri="{28A0092B-C50C-407E-A947-70E740481C1C}">
                <a14:useLocalDpi xmlns:a14="http://schemas.microsoft.com/office/drawing/2010/main" val="0"/>
              </a:ext>
            </a:extLst>
          </a:blip>
          <a:srcRect l="1711"/>
          <a:stretch>
            <a:fillRect/>
          </a:stretch>
        </p:blipFill>
        <p:spPr>
          <a:xfrm>
            <a:off x="5495826" y="75414"/>
            <a:ext cx="6696171" cy="4361674"/>
          </a:xfrm>
          <a:prstGeom prst="rect">
            <a:avLst/>
          </a:prstGeom>
        </p:spPr>
      </p:pic>
    </p:spTree>
    <p:extLst>
      <p:ext uri="{BB962C8B-B14F-4D97-AF65-F5344CB8AC3E}">
        <p14:creationId xmlns:p14="http://schemas.microsoft.com/office/powerpoint/2010/main" val="300682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FB563-3215-3726-208F-4DF7AAAB5C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5B0251-5555-B278-676A-A04D1CC910DA}"/>
              </a:ext>
            </a:extLst>
          </p:cNvPr>
          <p:cNvSpPr>
            <a:spLocks noGrp="1"/>
          </p:cNvSpPr>
          <p:nvPr>
            <p:ph type="ctrTitle"/>
          </p:nvPr>
        </p:nvSpPr>
        <p:spPr>
          <a:xfrm>
            <a:off x="838200" y="713312"/>
            <a:ext cx="4038600" cy="5431376"/>
          </a:xfrm>
        </p:spPr>
        <p:txBody>
          <a:bodyPr vert="horz" lIns="91440" tIns="45720" rIns="91440" bIns="45720" rtlCol="0" anchor="ctr">
            <a:normAutofit/>
          </a:bodyPr>
          <a:lstStyle/>
          <a:p>
            <a:pPr algn="l"/>
            <a:r>
              <a:rPr lang="en-US" sz="4400" dirty="0">
                <a:solidFill>
                  <a:schemeClr val="tx2"/>
                </a:solidFill>
              </a:rPr>
              <a:t>Confusion Matrix SVM</a:t>
            </a:r>
            <a:endParaRPr lang="en-US" sz="4400" kern="1200" dirty="0">
              <a:solidFill>
                <a:schemeClr val="tx1"/>
              </a:solidFill>
              <a:latin typeface="+mj-lt"/>
              <a:ea typeface="+mj-ea"/>
              <a:cs typeface="+mj-cs"/>
            </a:endParaRPr>
          </a:p>
        </p:txBody>
      </p:sp>
      <p:sp>
        <p:nvSpPr>
          <p:cNvPr id="3" name="Subtitle 2">
            <a:extLst>
              <a:ext uri="{FF2B5EF4-FFF2-40B4-BE49-F238E27FC236}">
                <a16:creationId xmlns:a16="http://schemas.microsoft.com/office/drawing/2014/main" id="{ECA8AB3C-832E-EA3E-A4CB-3BD2B86DECD7}"/>
              </a:ext>
            </a:extLst>
          </p:cNvPr>
          <p:cNvSpPr>
            <a:spLocks noGrp="1"/>
          </p:cNvSpPr>
          <p:nvPr>
            <p:ph type="subTitle" idx="1"/>
          </p:nvPr>
        </p:nvSpPr>
        <p:spPr>
          <a:xfrm>
            <a:off x="6096000" y="1849135"/>
            <a:ext cx="6095999" cy="4295553"/>
          </a:xfrm>
        </p:spPr>
        <p:txBody>
          <a:bodyPr vert="horz" lIns="91440" tIns="45720" rIns="91440" bIns="45720" rtlCol="0" anchor="ctr">
            <a:normAutofit fontScale="32500" lnSpcReduction="20000"/>
          </a:bodyPr>
          <a:lstStyle/>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r>
              <a:rPr lang="en-US" sz="5000" dirty="0"/>
              <a:t>Total abstract for AI 4978: </a:t>
            </a:r>
          </a:p>
          <a:p>
            <a:pPr algn="l"/>
            <a:r>
              <a:rPr lang="en-US" sz="5000" dirty="0"/>
              <a:t>Classified correct is 4930, misclassified is 48</a:t>
            </a:r>
          </a:p>
          <a:p>
            <a:pPr algn="l"/>
            <a:r>
              <a:rPr lang="en-US" sz="5000" dirty="0"/>
              <a:t>Total abstract for Human 1313: </a:t>
            </a:r>
          </a:p>
          <a:p>
            <a:pPr algn="l"/>
            <a:r>
              <a:rPr lang="en-US" sz="5000" dirty="0"/>
              <a:t>Classified correct is 1262, misclassified is 51</a:t>
            </a: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p:txBody>
      </p:sp>
      <p:pic>
        <p:nvPicPr>
          <p:cNvPr id="6" name="Picture 5" descr="A blue squares with numbers and a number on it&#10;&#10;AI-generated content may be incorrect.">
            <a:extLst>
              <a:ext uri="{FF2B5EF4-FFF2-40B4-BE49-F238E27FC236}">
                <a16:creationId xmlns:a16="http://schemas.microsoft.com/office/drawing/2014/main" id="{03C773D7-BC5C-3320-2D5E-33176F2E9C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32400" y="0"/>
            <a:ext cx="6959600" cy="4572000"/>
          </a:xfrm>
          <a:prstGeom prst="rect">
            <a:avLst/>
          </a:prstGeom>
        </p:spPr>
      </p:pic>
    </p:spTree>
    <p:extLst>
      <p:ext uri="{BB962C8B-B14F-4D97-AF65-F5344CB8AC3E}">
        <p14:creationId xmlns:p14="http://schemas.microsoft.com/office/powerpoint/2010/main" val="2789648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B31BC-38EC-355B-675F-DE48F5B11F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747269-DE2A-8467-55B0-D6069BCD73E0}"/>
              </a:ext>
            </a:extLst>
          </p:cNvPr>
          <p:cNvSpPr>
            <a:spLocks noGrp="1"/>
          </p:cNvSpPr>
          <p:nvPr>
            <p:ph type="ctrTitle"/>
          </p:nvPr>
        </p:nvSpPr>
        <p:spPr>
          <a:xfrm>
            <a:off x="838200" y="713312"/>
            <a:ext cx="4038600" cy="5431376"/>
          </a:xfrm>
        </p:spPr>
        <p:txBody>
          <a:bodyPr vert="horz" lIns="91440" tIns="45720" rIns="91440" bIns="45720" rtlCol="0" anchor="ctr">
            <a:normAutofit/>
          </a:bodyPr>
          <a:lstStyle/>
          <a:p>
            <a:pPr algn="l"/>
            <a:r>
              <a:rPr lang="en-US" sz="4400" dirty="0">
                <a:solidFill>
                  <a:schemeClr val="tx2"/>
                </a:solidFill>
              </a:rPr>
              <a:t>Confusion Matrix Random Forest</a:t>
            </a:r>
            <a:endParaRPr lang="en-US" sz="4400" kern="1200" dirty="0">
              <a:solidFill>
                <a:schemeClr val="tx1"/>
              </a:solidFill>
              <a:latin typeface="+mj-lt"/>
              <a:ea typeface="+mj-ea"/>
              <a:cs typeface="+mj-cs"/>
            </a:endParaRPr>
          </a:p>
        </p:txBody>
      </p:sp>
      <p:sp>
        <p:nvSpPr>
          <p:cNvPr id="3" name="Subtitle 2">
            <a:extLst>
              <a:ext uri="{FF2B5EF4-FFF2-40B4-BE49-F238E27FC236}">
                <a16:creationId xmlns:a16="http://schemas.microsoft.com/office/drawing/2014/main" id="{06A4B644-40C0-20BE-AC43-7B9282C0D423}"/>
              </a:ext>
            </a:extLst>
          </p:cNvPr>
          <p:cNvSpPr>
            <a:spLocks noGrp="1"/>
          </p:cNvSpPr>
          <p:nvPr>
            <p:ph type="subTitle" idx="1"/>
          </p:nvPr>
        </p:nvSpPr>
        <p:spPr>
          <a:xfrm>
            <a:off x="6096000" y="1849135"/>
            <a:ext cx="6095999" cy="4295553"/>
          </a:xfrm>
        </p:spPr>
        <p:txBody>
          <a:bodyPr vert="horz" lIns="91440" tIns="45720" rIns="91440" bIns="45720" rtlCol="0" anchor="ctr">
            <a:normAutofit fontScale="32500" lnSpcReduction="20000"/>
          </a:bodyPr>
          <a:lstStyle/>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r>
              <a:rPr lang="en-US" sz="5000" dirty="0"/>
              <a:t>Total abstract for AI 4978: </a:t>
            </a:r>
          </a:p>
          <a:p>
            <a:pPr algn="l"/>
            <a:r>
              <a:rPr lang="en-US" sz="5000" dirty="0"/>
              <a:t>classified correct is 4939, misclassified is 39</a:t>
            </a:r>
          </a:p>
          <a:p>
            <a:pPr algn="l"/>
            <a:r>
              <a:rPr lang="en-US" sz="5000" dirty="0"/>
              <a:t>Total abstract for Human 1313: </a:t>
            </a:r>
          </a:p>
          <a:p>
            <a:pPr algn="l"/>
            <a:r>
              <a:rPr lang="en-US" sz="5000" dirty="0"/>
              <a:t>classified correct is 1283, misclassified is 30</a:t>
            </a: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a:p>
            <a:pPr algn="l"/>
            <a:endParaRPr lang="en-US" sz="2000" dirty="0">
              <a:solidFill>
                <a:schemeClr val="tx2"/>
              </a:solidFill>
              <a:latin typeface="Cabin" pitchFamily="34" charset="0"/>
              <a:ea typeface="Cabin" pitchFamily="34" charset="-122"/>
              <a:cs typeface="Cabin" pitchFamily="34" charset="-120"/>
            </a:endParaRPr>
          </a:p>
        </p:txBody>
      </p:sp>
      <p:pic>
        <p:nvPicPr>
          <p:cNvPr id="6" name="Picture 5" descr="A graph with numbers and a number in blue squares&#10;&#10;AI-generated content may be incorrect.">
            <a:extLst>
              <a:ext uri="{FF2B5EF4-FFF2-40B4-BE49-F238E27FC236}">
                <a16:creationId xmlns:a16="http://schemas.microsoft.com/office/drawing/2014/main" id="{2340970B-B26C-ADB4-CFE4-A1BE16E31010}"/>
              </a:ext>
            </a:extLst>
          </p:cNvPr>
          <p:cNvPicPr>
            <a:picLocks noChangeAspect="1"/>
          </p:cNvPicPr>
          <p:nvPr/>
        </p:nvPicPr>
        <p:blipFill>
          <a:blip r:embed="rId2">
            <a:extLst>
              <a:ext uri="{28A0092B-C50C-407E-A947-70E740481C1C}">
                <a14:useLocalDpi xmlns:a14="http://schemas.microsoft.com/office/drawing/2010/main" val="0"/>
              </a:ext>
            </a:extLst>
          </a:blip>
          <a:srcRect t="1448"/>
          <a:stretch>
            <a:fillRect/>
          </a:stretch>
        </p:blipFill>
        <p:spPr>
          <a:xfrm>
            <a:off x="5216577" y="65988"/>
            <a:ext cx="6975421" cy="4491022"/>
          </a:xfrm>
          <a:prstGeom prst="rect">
            <a:avLst/>
          </a:prstGeom>
        </p:spPr>
      </p:pic>
    </p:spTree>
    <p:extLst>
      <p:ext uri="{BB962C8B-B14F-4D97-AF65-F5344CB8AC3E}">
        <p14:creationId xmlns:p14="http://schemas.microsoft.com/office/powerpoint/2010/main" val="2377424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C4F57B-DEAE-B4A0-10FF-E712A9C7638C}"/>
            </a:ext>
          </a:extLst>
        </p:cNvPr>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B9EB859F-15E5-C46E-4274-C6CD8C589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Freeform: Shape 76">
            <a:extLst>
              <a:ext uri="{FF2B5EF4-FFF2-40B4-BE49-F238E27FC236}">
                <a16:creationId xmlns:a16="http://schemas.microsoft.com/office/drawing/2014/main" id="{ED6E1B08-1C0B-91E0-A546-C9AFCD246F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B89FD009-9591-7F38-A6A6-1F5B96F9A9FB}"/>
              </a:ext>
            </a:extLst>
          </p:cNvPr>
          <p:cNvSpPr>
            <a:spLocks noGrp="1"/>
          </p:cNvSpPr>
          <p:nvPr>
            <p:ph type="ctrTitle"/>
          </p:nvPr>
        </p:nvSpPr>
        <p:spPr>
          <a:xfrm>
            <a:off x="838200" y="713312"/>
            <a:ext cx="4038600" cy="5431376"/>
          </a:xfrm>
        </p:spPr>
        <p:txBody>
          <a:bodyPr vert="horz" lIns="91440" tIns="45720" rIns="91440" bIns="45720" rtlCol="0" anchor="ctr">
            <a:normAutofit/>
          </a:bodyPr>
          <a:lstStyle/>
          <a:p>
            <a:pPr algn="l"/>
            <a:r>
              <a:rPr lang="en-US" sz="4400" dirty="0">
                <a:solidFill>
                  <a:schemeClr val="tx2"/>
                </a:solidFill>
              </a:rPr>
              <a:t>Analysis of Confusion Metrices</a:t>
            </a:r>
            <a:endParaRPr lang="en-US" sz="4400" kern="1200" dirty="0">
              <a:solidFill>
                <a:schemeClr val="tx1"/>
              </a:solidFill>
              <a:latin typeface="+mj-lt"/>
              <a:ea typeface="+mj-ea"/>
              <a:cs typeface="+mj-cs"/>
            </a:endParaRPr>
          </a:p>
        </p:txBody>
      </p:sp>
      <p:sp>
        <p:nvSpPr>
          <p:cNvPr id="3" name="Subtitle 2">
            <a:extLst>
              <a:ext uri="{FF2B5EF4-FFF2-40B4-BE49-F238E27FC236}">
                <a16:creationId xmlns:a16="http://schemas.microsoft.com/office/drawing/2014/main" id="{FCF504C6-B0AC-9DEA-1942-E322E905AA96}"/>
              </a:ext>
            </a:extLst>
          </p:cNvPr>
          <p:cNvSpPr>
            <a:spLocks noGrp="1"/>
          </p:cNvSpPr>
          <p:nvPr>
            <p:ph type="subTitle" idx="1"/>
          </p:nvPr>
        </p:nvSpPr>
        <p:spPr>
          <a:xfrm>
            <a:off x="5276335" y="2607276"/>
            <a:ext cx="6077465" cy="3537413"/>
          </a:xfrm>
        </p:spPr>
        <p:txBody>
          <a:bodyPr vert="horz" lIns="91440" tIns="45720" rIns="91440" bIns="45720" rtlCol="0" anchor="ctr">
            <a:normAutofit/>
          </a:bodyPr>
          <a:lstStyle/>
          <a:p>
            <a:pPr algn="l"/>
            <a:r>
              <a:rPr lang="en-US" sz="2000" b="1" dirty="0"/>
              <a:t>f</a:t>
            </a:r>
          </a:p>
        </p:txBody>
      </p:sp>
      <p:graphicFrame>
        <p:nvGraphicFramePr>
          <p:cNvPr id="4" name="Table 3">
            <a:extLst>
              <a:ext uri="{FF2B5EF4-FFF2-40B4-BE49-F238E27FC236}">
                <a16:creationId xmlns:a16="http://schemas.microsoft.com/office/drawing/2014/main" id="{D4E3696B-1430-10FC-9306-084FDD3662A5}"/>
              </a:ext>
            </a:extLst>
          </p:cNvPr>
          <p:cNvGraphicFramePr>
            <a:graphicFrameLocks noGrp="1"/>
          </p:cNvGraphicFramePr>
          <p:nvPr>
            <p:extLst>
              <p:ext uri="{D42A27DB-BD31-4B8C-83A1-F6EECF244321}">
                <p14:modId xmlns:p14="http://schemas.microsoft.com/office/powerpoint/2010/main" val="1939328740"/>
              </p:ext>
            </p:extLst>
          </p:nvPr>
        </p:nvGraphicFramePr>
        <p:xfrm>
          <a:off x="5276334" y="713311"/>
          <a:ext cx="6640365" cy="1828800"/>
        </p:xfrm>
        <a:graphic>
          <a:graphicData uri="http://schemas.openxmlformats.org/drawingml/2006/table">
            <a:tbl>
              <a:tblPr firstRow="1" bandRow="1">
                <a:tableStyleId>{5C22544A-7EE6-4342-B048-85BDC9FD1C3A}</a:tableStyleId>
              </a:tblPr>
              <a:tblGrid>
                <a:gridCol w="2213455">
                  <a:extLst>
                    <a:ext uri="{9D8B030D-6E8A-4147-A177-3AD203B41FA5}">
                      <a16:colId xmlns:a16="http://schemas.microsoft.com/office/drawing/2014/main" val="3812002282"/>
                    </a:ext>
                  </a:extLst>
                </a:gridCol>
                <a:gridCol w="2213455">
                  <a:extLst>
                    <a:ext uri="{9D8B030D-6E8A-4147-A177-3AD203B41FA5}">
                      <a16:colId xmlns:a16="http://schemas.microsoft.com/office/drawing/2014/main" val="257221759"/>
                    </a:ext>
                  </a:extLst>
                </a:gridCol>
                <a:gridCol w="2213455">
                  <a:extLst>
                    <a:ext uri="{9D8B030D-6E8A-4147-A177-3AD203B41FA5}">
                      <a16:colId xmlns:a16="http://schemas.microsoft.com/office/drawing/2014/main" val="3975587632"/>
                    </a:ext>
                  </a:extLst>
                </a:gridCol>
              </a:tblGrid>
              <a:tr h="458771">
                <a:tc>
                  <a:txBody>
                    <a:bodyPr/>
                    <a:lstStyle/>
                    <a:p>
                      <a:r>
                        <a:rPr lang="en-SA" dirty="0"/>
                        <a:t>Model / AI</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lt1"/>
                          </a:solidFill>
                          <a:effectLst/>
                          <a:latin typeface="+mn-lt"/>
                          <a:ea typeface="+mn-ea"/>
                          <a:cs typeface="+mn-cs"/>
                        </a:rPr>
                        <a:t>Classified Correct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lt1"/>
                          </a:solidFill>
                          <a:effectLst/>
                          <a:latin typeface="+mn-lt"/>
                          <a:ea typeface="+mn-ea"/>
                          <a:cs typeface="+mn-cs"/>
                        </a:rPr>
                        <a:t>Misclassified</a:t>
                      </a:r>
                    </a:p>
                  </a:txBody>
                  <a:tcPr/>
                </a:tc>
                <a:extLst>
                  <a:ext uri="{0D108BD9-81ED-4DB2-BD59-A6C34878D82A}">
                    <a16:rowId xmlns:a16="http://schemas.microsoft.com/office/drawing/2014/main" val="1151636279"/>
                  </a:ext>
                </a:extLst>
              </a:tr>
              <a:tr h="4524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Logistic Regression </a:t>
                      </a:r>
                    </a:p>
                  </a:txBody>
                  <a:tcPr/>
                </a:tc>
                <a:tc>
                  <a:txBody>
                    <a:bodyPr/>
                    <a:lstStyle/>
                    <a:p>
                      <a:r>
                        <a:rPr lang="en-SA" dirty="0"/>
                        <a:t>4939</a:t>
                      </a:r>
                    </a:p>
                  </a:txBody>
                  <a:tcPr/>
                </a:tc>
                <a:tc>
                  <a:txBody>
                    <a:bodyPr/>
                    <a:lstStyle/>
                    <a:p>
                      <a:r>
                        <a:rPr lang="en-SA" dirty="0"/>
                        <a:t>39</a:t>
                      </a:r>
                    </a:p>
                  </a:txBody>
                  <a:tcPr/>
                </a:tc>
                <a:extLst>
                  <a:ext uri="{0D108BD9-81ED-4DB2-BD59-A6C34878D82A}">
                    <a16:rowId xmlns:a16="http://schemas.microsoft.com/office/drawing/2014/main" val="405821342"/>
                  </a:ext>
                </a:extLst>
              </a:tr>
              <a:tr h="4587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SVM</a:t>
                      </a:r>
                      <a:r>
                        <a:rPr lang="en-SA" sz="1800" kern="1200" dirty="0">
                          <a:solidFill>
                            <a:schemeClr val="dk1"/>
                          </a:solidFill>
                          <a:effectLst/>
                          <a:latin typeface="+mn-lt"/>
                          <a:ea typeface="+mn-ea"/>
                          <a:cs typeface="+mn-cs"/>
                        </a:rPr>
                        <a:t> </a:t>
                      </a:r>
                      <a:endParaRPr lang="en-US" sz="1800" kern="1200" dirty="0">
                        <a:solidFill>
                          <a:schemeClr val="dk1"/>
                        </a:solidFill>
                        <a:effectLst/>
                        <a:latin typeface="+mn-lt"/>
                        <a:ea typeface="+mn-ea"/>
                        <a:cs typeface="+mn-cs"/>
                      </a:endParaRPr>
                    </a:p>
                  </a:txBody>
                  <a:tcPr/>
                </a:tc>
                <a:tc>
                  <a:txBody>
                    <a:bodyPr/>
                    <a:lstStyle/>
                    <a:p>
                      <a:r>
                        <a:rPr lang="en-SA" dirty="0"/>
                        <a:t>4930</a:t>
                      </a:r>
                    </a:p>
                  </a:txBody>
                  <a:tcPr/>
                </a:tc>
                <a:tc>
                  <a:txBody>
                    <a:bodyPr/>
                    <a:lstStyle/>
                    <a:p>
                      <a:r>
                        <a:rPr lang="en-SA" dirty="0"/>
                        <a:t>48</a:t>
                      </a:r>
                    </a:p>
                  </a:txBody>
                  <a:tcPr/>
                </a:tc>
                <a:extLst>
                  <a:ext uri="{0D108BD9-81ED-4DB2-BD59-A6C34878D82A}">
                    <a16:rowId xmlns:a16="http://schemas.microsoft.com/office/drawing/2014/main" val="3502108194"/>
                  </a:ext>
                </a:extLst>
              </a:tr>
              <a:tr h="458771">
                <a:tc>
                  <a:txBody>
                    <a:bodyPr/>
                    <a:lstStyle/>
                    <a:p>
                      <a:r>
                        <a:rPr lang="en-SA" dirty="0"/>
                        <a:t>Random Forest</a:t>
                      </a:r>
                    </a:p>
                  </a:txBody>
                  <a:tcPr/>
                </a:tc>
                <a:tc>
                  <a:txBody>
                    <a:bodyPr/>
                    <a:lstStyle/>
                    <a:p>
                      <a:r>
                        <a:rPr lang="en-SA" dirty="0"/>
                        <a:t>4939</a:t>
                      </a:r>
                    </a:p>
                  </a:txBody>
                  <a:tcPr/>
                </a:tc>
                <a:tc>
                  <a:txBody>
                    <a:bodyPr/>
                    <a:lstStyle/>
                    <a:p>
                      <a:r>
                        <a:rPr lang="en-SA" dirty="0"/>
                        <a:t>39</a:t>
                      </a:r>
                    </a:p>
                  </a:txBody>
                  <a:tcPr/>
                </a:tc>
                <a:extLst>
                  <a:ext uri="{0D108BD9-81ED-4DB2-BD59-A6C34878D82A}">
                    <a16:rowId xmlns:a16="http://schemas.microsoft.com/office/drawing/2014/main" val="773961946"/>
                  </a:ext>
                </a:extLst>
              </a:tr>
            </a:tbl>
          </a:graphicData>
        </a:graphic>
      </p:graphicFrame>
      <p:graphicFrame>
        <p:nvGraphicFramePr>
          <p:cNvPr id="8" name="Table 7">
            <a:extLst>
              <a:ext uri="{FF2B5EF4-FFF2-40B4-BE49-F238E27FC236}">
                <a16:creationId xmlns:a16="http://schemas.microsoft.com/office/drawing/2014/main" id="{D9C9D755-82CA-B7EF-029B-5F2653FACB5E}"/>
              </a:ext>
            </a:extLst>
          </p:cNvPr>
          <p:cNvGraphicFramePr>
            <a:graphicFrameLocks noGrp="1"/>
          </p:cNvGraphicFramePr>
          <p:nvPr>
            <p:extLst>
              <p:ext uri="{D42A27DB-BD31-4B8C-83A1-F6EECF244321}">
                <p14:modId xmlns:p14="http://schemas.microsoft.com/office/powerpoint/2010/main" val="2217958309"/>
              </p:ext>
            </p:extLst>
          </p:nvPr>
        </p:nvGraphicFramePr>
        <p:xfrm>
          <a:off x="5276334" y="3429000"/>
          <a:ext cx="6640365" cy="1828800"/>
        </p:xfrm>
        <a:graphic>
          <a:graphicData uri="http://schemas.openxmlformats.org/drawingml/2006/table">
            <a:tbl>
              <a:tblPr firstRow="1" bandRow="1">
                <a:tableStyleId>{5C22544A-7EE6-4342-B048-85BDC9FD1C3A}</a:tableStyleId>
              </a:tblPr>
              <a:tblGrid>
                <a:gridCol w="2213455">
                  <a:extLst>
                    <a:ext uri="{9D8B030D-6E8A-4147-A177-3AD203B41FA5}">
                      <a16:colId xmlns:a16="http://schemas.microsoft.com/office/drawing/2014/main" val="3812002282"/>
                    </a:ext>
                  </a:extLst>
                </a:gridCol>
                <a:gridCol w="2213455">
                  <a:extLst>
                    <a:ext uri="{9D8B030D-6E8A-4147-A177-3AD203B41FA5}">
                      <a16:colId xmlns:a16="http://schemas.microsoft.com/office/drawing/2014/main" val="257221759"/>
                    </a:ext>
                  </a:extLst>
                </a:gridCol>
                <a:gridCol w="2213455">
                  <a:extLst>
                    <a:ext uri="{9D8B030D-6E8A-4147-A177-3AD203B41FA5}">
                      <a16:colId xmlns:a16="http://schemas.microsoft.com/office/drawing/2014/main" val="3975587632"/>
                    </a:ext>
                  </a:extLst>
                </a:gridCol>
              </a:tblGrid>
              <a:tr h="458771">
                <a:tc>
                  <a:txBody>
                    <a:bodyPr/>
                    <a:lstStyle/>
                    <a:p>
                      <a:r>
                        <a:rPr lang="en-SA" dirty="0"/>
                        <a:t>Model / Human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lt1"/>
                          </a:solidFill>
                          <a:effectLst/>
                          <a:latin typeface="+mn-lt"/>
                          <a:ea typeface="+mn-ea"/>
                          <a:cs typeface="+mn-cs"/>
                        </a:rPr>
                        <a:t>Classified Correct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lt1"/>
                          </a:solidFill>
                          <a:effectLst/>
                          <a:latin typeface="+mn-lt"/>
                          <a:ea typeface="+mn-ea"/>
                          <a:cs typeface="+mn-cs"/>
                        </a:rPr>
                        <a:t>Misclassified</a:t>
                      </a:r>
                    </a:p>
                  </a:txBody>
                  <a:tcPr/>
                </a:tc>
                <a:extLst>
                  <a:ext uri="{0D108BD9-81ED-4DB2-BD59-A6C34878D82A}">
                    <a16:rowId xmlns:a16="http://schemas.microsoft.com/office/drawing/2014/main" val="1151636279"/>
                  </a:ext>
                </a:extLst>
              </a:tr>
              <a:tr h="4524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Logistic Regression </a:t>
                      </a:r>
                    </a:p>
                  </a:txBody>
                  <a:tcPr/>
                </a:tc>
                <a:tc>
                  <a:txBody>
                    <a:bodyPr/>
                    <a:lstStyle/>
                    <a:p>
                      <a:r>
                        <a:rPr lang="en-SA" dirty="0"/>
                        <a:t>1149</a:t>
                      </a:r>
                    </a:p>
                  </a:txBody>
                  <a:tcPr/>
                </a:tc>
                <a:tc>
                  <a:txBody>
                    <a:bodyPr/>
                    <a:lstStyle/>
                    <a:p>
                      <a:r>
                        <a:rPr lang="en-SA" dirty="0"/>
                        <a:t>119</a:t>
                      </a:r>
                    </a:p>
                  </a:txBody>
                  <a:tcPr/>
                </a:tc>
                <a:extLst>
                  <a:ext uri="{0D108BD9-81ED-4DB2-BD59-A6C34878D82A}">
                    <a16:rowId xmlns:a16="http://schemas.microsoft.com/office/drawing/2014/main" val="405821342"/>
                  </a:ext>
                </a:extLst>
              </a:tr>
              <a:tr h="4587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SVM</a:t>
                      </a:r>
                      <a:r>
                        <a:rPr lang="en-SA" sz="1800" kern="1200" dirty="0">
                          <a:solidFill>
                            <a:schemeClr val="dk1"/>
                          </a:solidFill>
                          <a:effectLst/>
                          <a:latin typeface="+mn-lt"/>
                          <a:ea typeface="+mn-ea"/>
                          <a:cs typeface="+mn-cs"/>
                        </a:rPr>
                        <a:t> </a:t>
                      </a:r>
                      <a:endParaRPr lang="en-US" sz="1800" kern="1200" dirty="0">
                        <a:solidFill>
                          <a:schemeClr val="dk1"/>
                        </a:solidFill>
                        <a:effectLst/>
                        <a:latin typeface="+mn-lt"/>
                        <a:ea typeface="+mn-ea"/>
                        <a:cs typeface="+mn-cs"/>
                      </a:endParaRPr>
                    </a:p>
                  </a:txBody>
                  <a:tcPr/>
                </a:tc>
                <a:tc>
                  <a:txBody>
                    <a:bodyPr/>
                    <a:lstStyle/>
                    <a:p>
                      <a:r>
                        <a:rPr lang="en-SA" dirty="0"/>
                        <a:t>1262</a:t>
                      </a:r>
                    </a:p>
                  </a:txBody>
                  <a:tcPr/>
                </a:tc>
                <a:tc>
                  <a:txBody>
                    <a:bodyPr/>
                    <a:lstStyle/>
                    <a:p>
                      <a:r>
                        <a:rPr lang="en-SA" dirty="0"/>
                        <a:t>51</a:t>
                      </a:r>
                    </a:p>
                  </a:txBody>
                  <a:tcPr/>
                </a:tc>
                <a:extLst>
                  <a:ext uri="{0D108BD9-81ED-4DB2-BD59-A6C34878D82A}">
                    <a16:rowId xmlns:a16="http://schemas.microsoft.com/office/drawing/2014/main" val="3502108194"/>
                  </a:ext>
                </a:extLst>
              </a:tr>
              <a:tr h="458771">
                <a:tc>
                  <a:txBody>
                    <a:bodyPr/>
                    <a:lstStyle/>
                    <a:p>
                      <a:r>
                        <a:rPr lang="en-SA" dirty="0"/>
                        <a:t>Random Forest</a:t>
                      </a:r>
                    </a:p>
                  </a:txBody>
                  <a:tcPr/>
                </a:tc>
                <a:tc>
                  <a:txBody>
                    <a:bodyPr/>
                    <a:lstStyle/>
                    <a:p>
                      <a:r>
                        <a:rPr lang="en-SA" dirty="0"/>
                        <a:t>1283</a:t>
                      </a:r>
                    </a:p>
                  </a:txBody>
                  <a:tcPr/>
                </a:tc>
                <a:tc>
                  <a:txBody>
                    <a:bodyPr/>
                    <a:lstStyle/>
                    <a:p>
                      <a:r>
                        <a:rPr lang="en-SA" dirty="0"/>
                        <a:t>30</a:t>
                      </a:r>
                    </a:p>
                  </a:txBody>
                  <a:tcPr/>
                </a:tc>
                <a:extLst>
                  <a:ext uri="{0D108BD9-81ED-4DB2-BD59-A6C34878D82A}">
                    <a16:rowId xmlns:a16="http://schemas.microsoft.com/office/drawing/2014/main" val="773961946"/>
                  </a:ext>
                </a:extLst>
              </a:tr>
            </a:tbl>
          </a:graphicData>
        </a:graphic>
      </p:graphicFrame>
    </p:spTree>
    <p:extLst>
      <p:ext uri="{BB962C8B-B14F-4D97-AF65-F5344CB8AC3E}">
        <p14:creationId xmlns:p14="http://schemas.microsoft.com/office/powerpoint/2010/main" val="3675371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877AFA-B868-387C-6213-012E293BA1F1}"/>
            </a:ext>
          </a:extLst>
        </p:cNvPr>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CC41E9E2-A9B3-1757-A548-36FD7C5F1E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Freeform: Shape 76">
            <a:extLst>
              <a:ext uri="{FF2B5EF4-FFF2-40B4-BE49-F238E27FC236}">
                <a16:creationId xmlns:a16="http://schemas.microsoft.com/office/drawing/2014/main" id="{7C0E7819-EFCD-8632-1FE3-11563FFD0F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B21DDFCE-53BF-C795-81C1-4561AB403FA5}"/>
              </a:ext>
            </a:extLst>
          </p:cNvPr>
          <p:cNvSpPr>
            <a:spLocks noGrp="1"/>
          </p:cNvSpPr>
          <p:nvPr>
            <p:ph type="ctrTitle"/>
          </p:nvPr>
        </p:nvSpPr>
        <p:spPr>
          <a:xfrm>
            <a:off x="838200" y="713312"/>
            <a:ext cx="4038600" cy="5431376"/>
          </a:xfrm>
        </p:spPr>
        <p:txBody>
          <a:bodyPr vert="horz" lIns="91440" tIns="45720" rIns="91440" bIns="45720" rtlCol="0" anchor="ctr">
            <a:normAutofit/>
          </a:bodyPr>
          <a:lstStyle/>
          <a:p>
            <a:pPr algn="l"/>
            <a:r>
              <a:rPr lang="en-US" sz="4400" dirty="0">
                <a:solidFill>
                  <a:schemeClr val="tx2"/>
                </a:solidFill>
              </a:rPr>
              <a:t>Analysis of Confusion Metrices</a:t>
            </a:r>
            <a:endParaRPr lang="en-US" sz="4400" kern="1200" dirty="0">
              <a:solidFill>
                <a:schemeClr val="tx1"/>
              </a:solidFill>
              <a:latin typeface="+mj-lt"/>
              <a:ea typeface="+mj-ea"/>
              <a:cs typeface="+mj-cs"/>
            </a:endParaRPr>
          </a:p>
        </p:txBody>
      </p:sp>
      <p:sp>
        <p:nvSpPr>
          <p:cNvPr id="3" name="Subtitle 2">
            <a:extLst>
              <a:ext uri="{FF2B5EF4-FFF2-40B4-BE49-F238E27FC236}">
                <a16:creationId xmlns:a16="http://schemas.microsoft.com/office/drawing/2014/main" id="{D1141320-7ED5-D63A-B4FE-3ED98BDADD34}"/>
              </a:ext>
            </a:extLst>
          </p:cNvPr>
          <p:cNvSpPr>
            <a:spLocks noGrp="1"/>
          </p:cNvSpPr>
          <p:nvPr>
            <p:ph type="subTitle" idx="1"/>
          </p:nvPr>
        </p:nvSpPr>
        <p:spPr>
          <a:xfrm>
            <a:off x="5276335" y="860612"/>
            <a:ext cx="6077465" cy="5284077"/>
          </a:xfrm>
        </p:spPr>
        <p:txBody>
          <a:bodyPr vert="horz" lIns="91440" tIns="45720" rIns="91440" bIns="45720" rtlCol="0" anchor="ctr">
            <a:normAutofit/>
          </a:bodyPr>
          <a:lstStyle/>
          <a:p>
            <a:pPr algn="l"/>
            <a:r>
              <a:rPr lang="en-US" sz="1600" dirty="0"/>
              <a:t>The  Logistic model, SVM model, and Random Forest in this analysis are considered good, showing high performance in accuracy, precision, and recall metrics. However, the SVM model took longer time compared to the others.</a:t>
            </a:r>
          </a:p>
          <a:p>
            <a:pPr algn="l"/>
            <a:endParaRPr lang="en-US" sz="1600" dirty="0"/>
          </a:p>
          <a:p>
            <a:pPr algn="l"/>
            <a:r>
              <a:rPr lang="en-US" sz="1600" dirty="0"/>
              <a:t>When evaluating the performance of the Logistic Regression, it good according to AI, making it the preferred choice in this case.</a:t>
            </a:r>
          </a:p>
          <a:p>
            <a:pPr algn="l"/>
            <a:endParaRPr lang="en-US" sz="1600" dirty="0"/>
          </a:p>
          <a:p>
            <a:pPr algn="l"/>
            <a:r>
              <a:rPr lang="en-US" sz="1600" dirty="0"/>
              <a:t>Therefore, we can choose the Random Forest model, it good in both AI and human.</a:t>
            </a:r>
          </a:p>
        </p:txBody>
      </p:sp>
    </p:spTree>
    <p:extLst>
      <p:ext uri="{BB962C8B-B14F-4D97-AF65-F5344CB8AC3E}">
        <p14:creationId xmlns:p14="http://schemas.microsoft.com/office/powerpoint/2010/main" val="1413281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e89e880c-1b18-43b2-b0ad-acc41c05471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Belge" ma:contentTypeID="0x010100A065F17D42DDBC4097DF2168536184E3" ma:contentTypeVersion="5" ma:contentTypeDescription="Yeni belge oluşturun." ma:contentTypeScope="" ma:versionID="f94d2f9cc411dec2f9aa069c3dbef078">
  <xsd:schema xmlns:xsd="http://www.w3.org/2001/XMLSchema" xmlns:xs="http://www.w3.org/2001/XMLSchema" xmlns:p="http://schemas.microsoft.com/office/2006/metadata/properties" xmlns:ns3="e89e880c-1b18-43b2-b0ad-acc41c054715" targetNamespace="http://schemas.microsoft.com/office/2006/metadata/properties" ma:root="true" ma:fieldsID="9e3493b316da6e4654323d36cc89d5f8" ns3:_="">
    <xsd:import namespace="e89e880c-1b18-43b2-b0ad-acc41c054715"/>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9e880c-1b18-43b2-b0ad-acc41c054715"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E24DD2B-A87D-45A8-ADA7-6C7C92A8F3CE}">
  <ds:schemaRefs>
    <ds:schemaRef ds:uri="http://schemas.microsoft.com/sharepoint/v3/contenttype/forms"/>
  </ds:schemaRefs>
</ds:datastoreItem>
</file>

<file path=customXml/itemProps2.xml><?xml version="1.0" encoding="utf-8"?>
<ds:datastoreItem xmlns:ds="http://schemas.openxmlformats.org/officeDocument/2006/customXml" ds:itemID="{761D142B-FDE8-4819-B806-964D64AD9514}">
  <ds:schemaRefs>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www.w3.org/XML/1998/namespace"/>
    <ds:schemaRef ds:uri="http://schemas.openxmlformats.org/package/2006/metadata/core-properties"/>
    <ds:schemaRef ds:uri="e89e880c-1b18-43b2-b0ad-acc41c054715"/>
    <ds:schemaRef ds:uri="http://purl.org/dc/terms/"/>
  </ds:schemaRefs>
</ds:datastoreItem>
</file>

<file path=customXml/itemProps3.xml><?xml version="1.0" encoding="utf-8"?>
<ds:datastoreItem xmlns:ds="http://schemas.openxmlformats.org/officeDocument/2006/customXml" ds:itemID="{EDBCDB96-D488-4FF3-B9A4-B9A404D261F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9e880c-1b18-43b2-b0ad-acc41c05471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1344</TotalTime>
  <Words>461</Words>
  <Application>Microsoft Macintosh PowerPoint</Application>
  <PresentationFormat>Widescreen</PresentationFormat>
  <Paragraphs>234</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Cabin</vt:lpstr>
      <vt:lpstr>Office Theme</vt:lpstr>
      <vt:lpstr>Data Analysis Techniques</vt:lpstr>
      <vt:lpstr>Dataset Summary</vt:lpstr>
      <vt:lpstr>Dataset Preprocess</vt:lpstr>
      <vt:lpstr>Feature Engineering </vt:lpstr>
      <vt:lpstr>Results Model</vt:lpstr>
      <vt:lpstr>Confusion Matrix Logistic Regression</vt:lpstr>
      <vt:lpstr>Confusion Matrix SVM</vt:lpstr>
      <vt:lpstr>Confusion Matrix Random Forest</vt:lpstr>
      <vt:lpstr>Analysis of Confusion Metrices</vt:lpstr>
      <vt:lpstr>Analysis of Confusion Metrices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Ammar Yaser Alharbi</dc:creator>
  <cp:lastModifiedBy>AMMAR YASIR NAJI ALHARBI</cp:lastModifiedBy>
  <cp:revision>9</cp:revision>
  <dcterms:created xsi:type="dcterms:W3CDTF">2025-10-03T06:48:15Z</dcterms:created>
  <dcterms:modified xsi:type="dcterms:W3CDTF">2025-12-13T19:42:01Z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0x010100A065F17D42DDBC4097DF2168536184E3</vt:lpwstr>
  </property>
  <property fmtid="{D5CDD505-2E9C-101B-9397-08002B2CF9AE}" pid="3" name="MSIP_Label_356b845c-e4b1-4dc6-88ac-18438ab07605_Enabled">
    <vt:lpwstr>true</vt:lpwstr>
  </property>
  <property fmtid="{D5CDD505-2E9C-101B-9397-08002B2CF9AE}" pid="4" name="MSIP_Label_356b845c-e4b1-4dc6-88ac-18438ab07605_SetDate">
    <vt:lpwstr>2025-11-22T00:00:52Z</vt:lpwstr>
  </property>
  <property fmtid="{D5CDD505-2E9C-101B-9397-08002B2CF9AE}" pid="5" name="MSIP_Label_356b845c-e4b1-4dc6-88ac-18438ab07605_Method">
    <vt:lpwstr>Standard</vt:lpwstr>
  </property>
  <property fmtid="{D5CDD505-2E9C-101B-9397-08002B2CF9AE}" pid="6" name="MSIP_Label_356b845c-e4b1-4dc6-88ac-18438ab07605_Name">
    <vt:lpwstr>TAV-General</vt:lpwstr>
  </property>
  <property fmtid="{D5CDD505-2E9C-101B-9397-08002B2CF9AE}" pid="7" name="MSIP_Label_356b845c-e4b1-4dc6-88ac-18438ab07605_SiteId">
    <vt:lpwstr>1af6f1b7-7695-4cd4-965c-cfcb5bea44b3</vt:lpwstr>
  </property>
  <property fmtid="{D5CDD505-2E9C-101B-9397-08002B2CF9AE}" pid="8" name="MSIP_Label_356b845c-e4b1-4dc6-88ac-18438ab07605_ActionId">
    <vt:lpwstr>d5b81611-7585-4b5c-9e33-9441039ab30d</vt:lpwstr>
  </property>
  <property fmtid="{D5CDD505-2E9C-101B-9397-08002B2CF9AE}" pid="9" name="MSIP_Label_356b845c-e4b1-4dc6-88ac-18438ab07605_ContentBits">
    <vt:lpwstr>2</vt:lpwstr>
  </property>
  <property fmtid="{D5CDD505-2E9C-101B-9397-08002B2CF9AE}" pid="10" name="MSIP_Label_356b845c-e4b1-4dc6-88ac-18438ab07605_Tag">
    <vt:lpwstr>50, 3, 0, 1</vt:lpwstr>
  </property>
  <property fmtid="{D5CDD505-2E9C-101B-9397-08002B2CF9AE}" pid="11" name="ClassificationContentMarkingFooterLocations">
    <vt:lpwstr>Office Theme:8</vt:lpwstr>
  </property>
  <property fmtid="{D5CDD505-2E9C-101B-9397-08002B2CF9AE}" pid="12" name="ClassificationContentMarkingFooterText">
    <vt:lpwstr>Classification | Internal Use</vt:lpwstr>
  </property>
</Properties>
</file>